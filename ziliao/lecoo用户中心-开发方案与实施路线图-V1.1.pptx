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7" r:id="rId18"/>
    <p:sldId id="268" r:id="rId19"/>
    <p:sldId id="269" r:id="rId20"/>
    <p:sldId id="264" r:id="rId15"/>
    <p:sldId id="265" r:id="rId16"/>
    <p:sldId id="266" r:id="rId17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97BC"/>
          </a:solidFill>
          <a:ln w="12700">
            <a:solidFill>
              <a:srgbClr val="1D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70408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lecoo 用户中心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80467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C4DCFA"/>
                </a:solidFill>
                <a:latin typeface="PingFang SC"/>
              </a:rPr>
              <a:t>统一登录 · 身份治理 · 账号安全管理与审计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70048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ingFang SC"/>
              </a:rPr>
              <a:t>开发方案与实施路线图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6B3D8"/>
                </a:solidFill>
                <a:latin typeface="PingFang SC"/>
              </a:rPr>
              <a:t>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统一身份入口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6B3D8"/>
                </a:solidFill>
                <a:latin typeface="PingFang SC"/>
              </a:rPr>
              <a:t>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账号全生命周期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402336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6B3D8"/>
                </a:solidFill>
                <a:latin typeface="PingFang SC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343400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可核查、可闭环、可形成管理层治理报告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08076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</a:rPr>
              <a:t>V1.1｜2026.08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80760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>
                <a:solidFill>
                  <a:srgbClr val="C4DCFA"/>
                </a:solidFill>
                <a:latin typeface="PingFang SC"/>
              </a:rPr>
              <a:t>V1.1｜补齐上线运维、质量验收、组织协作与文档体系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目录｜汇报内容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V1.1 在 V1.0 方案基础上，补齐标准开发方案缺口：上线运维、质量验收、组织协作与文档回写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0000"/>
            <a:ext cx="10515600" cy="62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4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0000" y="1410000"/>
            <a:ext cx="5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建设需求与现状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000" y="164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业务需求、系统定位、现状问题与建设必要性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0000" y="148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03–05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000000"/>
            <a:ext cx="10515600" cy="62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12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0000" y="2090000"/>
            <a:ext cx="5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实现目标与功能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232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登录安全、子系统接入、成本权限、待办与团队管理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0000" y="216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06–11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680000"/>
            <a:ext cx="10515600" cy="62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80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2770000"/>
            <a:ext cx="5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核心难点与方案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0000" y="300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账号归集、线上线下执行、季度账号与成本权限核查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000" y="284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12–16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60000"/>
            <a:ext cx="10515600" cy="62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48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0000" y="3450000"/>
            <a:ext cx="5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技术实现与一期计划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0000" y="368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技术架构、数据模型、一期范围与实施路线图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0000" y="352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17–20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040000"/>
            <a:ext cx="10515600" cy="62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16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0000" y="4130000"/>
            <a:ext cx="5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上线运维与质量验收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0000" y="436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发布回滚、监控 Runbook、验收 DoD、安全门禁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0000" y="420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22–25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720000"/>
            <a:ext cx="10515600" cy="62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84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0000" y="4810000"/>
            <a:ext cx="5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组织协作与文档体系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50000" y="504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RACI、标准目录、原型→正式文档回写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0000" y="488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26–28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400000"/>
            <a:ext cx="10515600" cy="62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52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50000" y="5490000"/>
            <a:ext cx="5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A"/>
                </a:solidFill>
                <a:latin typeface="Microsoft YaHei"/>
              </a:rPr>
              <a:t>风险与待确认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0000" y="5720000"/>
            <a:ext cx="7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关键风险、外部依赖、评审决策事项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0000" y="556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57284"/>
                </a:solidFill>
                <a:latin typeface="Microsoft YaHei"/>
              </a:rPr>
              <a:t>21/29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建设需求与现状｜执行摘要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本次建设不仅解决怎么登录，更要回答账号属于谁、为何存在、何时关闭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4348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一个统一主档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788920" cy="2103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一个自然人建立一个统一身份主档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可下挂多个系统、多个账号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可按责任范围管理其他账号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4983480"/>
            <a:ext cx="283464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5093208"/>
            <a:ext cx="2542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人是主线，账号与权限是资产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44348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73736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两类使用入口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331720"/>
            <a:ext cx="2788920" cy="2103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员工入口：登录门户 + 个人中心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管理入口：统一管理后台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4983480"/>
            <a:ext cx="2834640" cy="47548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5093208"/>
            <a:ext cx="2542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946B"/>
                </a:solidFill>
                <a:latin typeface="PingFang SC"/>
              </a:rPr>
              <a:t>认证与治理分层，避免边界失控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44348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E28732"/>
                </a:solidFill>
                <a:latin typeface="PingFang SC"/>
              </a:rPr>
              <a:t>三类闭环结果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2788920" cy="2103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账号申请、审批、执行、回执全程留痕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成本权限按责任链定期复核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离职触发跨系统账号清零核验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4983480"/>
            <a:ext cx="2834640" cy="47548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5093208"/>
            <a:ext cx="2542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28732"/>
                </a:solidFill>
                <a:latin typeface="PingFang SC"/>
              </a:rPr>
              <a:t>一期接口与人工操作并存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建设需求与现状｜现状问题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基于 2026.4 内审账号资料与既有统一登录方案抽样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2C68CD"/>
                </a:solidFill>
                <a:latin typeface="PingFang SC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份异构账号来源文件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97BC"/>
                </a:solidFill>
                <a:latin typeface="PingFang SC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个季度核查系统口径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E28732"/>
                </a:solidFill>
                <a:latin typeface="PingFang SC"/>
              </a:rPr>
              <a:t>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条成本权限记录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C94349"/>
                </a:solidFill>
                <a:latin typeface="PingFang S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套成本权限清单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22946B"/>
                </a:solidFill>
                <a:latin typeface="PingFang SC"/>
              </a:rPr>
              <a:t>线上+线下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当前真实执行方式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788920"/>
            <a:ext cx="106984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2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3383280"/>
            <a:ext cx="1143000" cy="329184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字段不一致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50208"/>
            <a:ext cx="208483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username、姓名、工号、ITcode、手机号、邮箱、OA 编号各自存在，无法依赖单一键。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39312" y="3383280"/>
            <a:ext cx="1143000" cy="329184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来源不一致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950208"/>
            <a:ext cx="208483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员工、外部人员、门店账号、共享账号并存，状态与责任人缺失。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82512" y="3383280"/>
            <a:ext cx="1143000" cy="329184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执行不一致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950208"/>
            <a:ext cx="208483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部分系统可接口停用，部分只能由负责人线下操作并回传证据。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28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25711" y="3383280"/>
            <a:ext cx="1143000" cy="329184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组织责任不统一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3950208"/>
            <a:ext cx="208483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部门与负责人需支持指定；组织架构从飞书或北森同步，例外规则不再散落 Excel。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33872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5943600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结论：先建立“统一身份 + 账号映射 + 责任链”，再逐步提高自动化比例。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建设需求与现状｜系统定位与边界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认证中心解决“你是谁”，治理中心解决“你拥有什么、谁负责、是否合规”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452628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模块 A｜统一登录与账号安全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4572000" cy="2697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账号密码、手机/邮箱验证码、图片验证码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MFA：TOTP、短信、邮箱、备用码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飞书、企业微信、北森等联合登录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人脸/指纹采用 WebAuthn 或设备能力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子系统 OIDC 自动登录、会话与登出策略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257800" cy="452628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模块 B｜身份治理与安全审计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331720"/>
            <a:ext cx="4572000" cy="2697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统一用户主档与多系统账号关联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系统准入、认证有效期、账号生命周期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权限快照、成本权限、责任链与复核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开通/变更/关闭待办，线上线下闭环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季度核查、离职销户核验、审计汇报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53328"/>
            <a:ext cx="10716768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6163056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边界原则：业务系统仍负责本地菜单/数据权限实时鉴权；用户中心负责统一身份、准入策略、权限目录与审计。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实现目标与功能｜功能全景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两个业务模块独立建设，共享统一身份、组织架构和审计底座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5376672" cy="418795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600200"/>
            <a:ext cx="7498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模块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572768"/>
            <a:ext cx="3611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统一登录与账号安全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多方式认证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70432" y="3090672"/>
            <a:ext cx="987552" cy="0"/>
          </a:xfrm>
          <a:prstGeom prst="line">
            <a:avLst/>
          </a:prstGeom>
          <a:ln w="1524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42416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密码 / 验证码
MFA / 生物识别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联合登录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43784" y="3090672"/>
            <a:ext cx="987552" cy="0"/>
          </a:xfrm>
          <a:prstGeom prst="line">
            <a:avLst/>
          </a:prstGeom>
          <a:ln w="1524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15768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飞书 / 企微 / 北森
外部 IdP 连接器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子系统接入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17136" y="3090672"/>
            <a:ext cx="987552" cy="0"/>
          </a:xfrm>
          <a:prstGeom prst="line">
            <a:avLst/>
          </a:prstGeom>
          <a:ln w="15240">
            <a:solidFill>
              <a:srgbClr val="142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0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OIDC / PKCE
会话策略 / SLO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773168"/>
            <a:ext cx="482803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882896"/>
            <a:ext cx="45354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目标：一次认证，按策略安全访问已授权系统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353312"/>
            <a:ext cx="5376672" cy="418795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1600200"/>
            <a:ext cx="7498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模块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572768"/>
            <a:ext cx="3611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身份治理与安全审计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账号治理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84264" y="3090672"/>
            <a:ext cx="987552" cy="0"/>
          </a:xfrm>
          <a:prstGeom prst="line">
            <a:avLst/>
          </a:prstGeom>
          <a:ln w="1524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56248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统一主档 / 账号关联
开通 / 关闭 / 有效期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权限治理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57616" y="3090672"/>
            <a:ext cx="987552" cy="0"/>
          </a:xfrm>
          <a:prstGeom prst="line">
            <a:avLst/>
          </a:prstGeom>
          <a:ln w="1524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0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权限快照 / 成本权限
责任链 / 定期复核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93224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2952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94349"/>
                </a:solidFill>
                <a:latin typeface="PingFang SC"/>
              </a:rPr>
              <a:t>流程与审计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30968" y="3090672"/>
            <a:ext cx="987552" cy="0"/>
          </a:xfrm>
          <a:prstGeom prst="line">
            <a:avLst/>
          </a:prstGeom>
          <a:ln w="15240">
            <a:solidFill>
              <a:srgbClr val="C9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902952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待办 / 审批 / 回执
季度盘点 / 离职核验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4773168"/>
            <a:ext cx="482803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4882896"/>
            <a:ext cx="45354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946B"/>
                </a:solidFill>
                <a:latin typeface="PingFang SC"/>
              </a:rPr>
              <a:t>目标：账号有归属、权限有依据、操作可追溯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5733288"/>
            <a:ext cx="9802368" cy="530352"/>
          </a:xfrm>
          <a:prstGeom prst="round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17320" y="5879592"/>
            <a:ext cx="9345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共享底座：统一身份主档  ·  飞书/北森组织架构  ·  部门与负责人配置  ·  审计证据链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实现目标与功能｜登录安全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低风险顺畅通行，高风险触发二次安全验证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29718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PingFang SC"/>
              </a:rPr>
              <a:t>L1 常规登录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16352"/>
            <a:ext cx="2057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账号密码
手机/邮箱验证码
图片验证码与防爆破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18688" y="2999232"/>
            <a:ext cx="210312" cy="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508760"/>
            <a:ext cx="2468880" cy="29718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75887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D97BC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26771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D97BC"/>
                </a:solidFill>
                <a:latin typeface="PingFang SC"/>
              </a:rPr>
              <a:t>L2 联合登录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816352"/>
            <a:ext cx="2057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飞书 / 企业微信 / 北森
校验外部 IdP 身份
回到统一身份主档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2999232"/>
            <a:ext cx="210312" cy="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508760"/>
            <a:ext cx="2468880" cy="29718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190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6771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28732"/>
                </a:solidFill>
                <a:latin typeface="PingFang SC"/>
              </a:rPr>
              <a:t>L3 强认证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816352"/>
            <a:ext cx="2057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TOTP / 短信 / 邮箱
Passkey / WebAuthn
备用码与设备管理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05088" y="2999232"/>
            <a:ext cx="210312" cy="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1508760"/>
            <a:ext cx="2468880" cy="297180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22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26771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94349"/>
                </a:solidFill>
                <a:latin typeface="PingFang SC"/>
              </a:rPr>
              <a:t>L4 敏感操作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816352"/>
            <a:ext cx="2057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查看成本权限
重置凭证 / 导出数据
强制二次认证 + 审计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600"/>
            <a:ext cx="10698480" cy="9601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A"/>
                </a:solidFill>
                <a:latin typeface="PingFang SC"/>
              </a:rPr>
              <a:t>移动端人脸/指纹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38344"/>
            <a:ext cx="8046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采用设备生物能力解锁 Passkey / 本机会话；生物模板不上传、不在用户中心存储。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实现目标与功能｜子系统接入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建议统一采用 OIDC Authorization Code + PKCE；保留连接器扩展能力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访问子系统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用户发起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423160"/>
            <a:ext cx="365761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跳转用户中心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携带 state/nonce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59" y="2423160"/>
            <a:ext cx="365761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完成认证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按风险触发 MFA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9" y="2423160"/>
            <a:ext cx="365761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签发授权码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短期、一次性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2423160"/>
            <a:ext cx="365759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建立本地会话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应用自主鉴权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3291840" cy="16002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913632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C68CD"/>
                </a:solidFill>
                <a:latin typeface="PingFang SC"/>
              </a:rPr>
              <a:t>系统级准入策略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89120"/>
            <a:ext cx="27889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全员可登录 / 指定组织 / 指定人员申请
可配置登录认证有效期与强认证等级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57600"/>
            <a:ext cx="3291840" cy="16002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913632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2946B"/>
                </a:solidFill>
                <a:latin typeface="PingFang SC"/>
              </a:rPr>
              <a:t>双层会话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389120"/>
            <a:ext cx="27889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中心 Session 与应用 Session 分离
支持管理员踢人、单点登出和有效期策略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657600"/>
            <a:ext cx="3291840" cy="16002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913632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28732"/>
                </a:solidFill>
                <a:latin typeface="PingFang SC"/>
              </a:rPr>
              <a:t>接入治理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389120"/>
            <a:ext cx="27889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回调白名单、secret 一次展示、轮换
沙箱联调、上线审批、接入审计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核心难点一｜一个自然人存在多个账号，如何准确归集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姓名、手机号、itcode、邮箱都可能缺失、重复或变化，不能直接硬合并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2240280" cy="822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74A"/>
                </a:solidFill>
                <a:latin typeface="PingFang SC"/>
              </a:rPr>
              <a:t>员工主数据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57284"/>
                </a:solidFill>
                <a:latin typeface="PingFang SC"/>
              </a:rPr>
              <a:t>OA / 飞书 / 北森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892808"/>
            <a:ext cx="685800" cy="1014984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651760"/>
            <a:ext cx="2240280" cy="822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74A"/>
                </a:solidFill>
                <a:latin typeface="PingFang SC"/>
              </a:rPr>
              <a:t>系统账号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57284"/>
                </a:solidFill>
                <a:latin typeface="PingFang SC"/>
              </a:rPr>
              <a:t>账号名 / 工号 / 手机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71800" y="2907792"/>
            <a:ext cx="685800" cy="155448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822191"/>
            <a:ext cx="2240280" cy="822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7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74A"/>
                </a:solidFill>
                <a:latin typeface="PingFang SC"/>
              </a:rPr>
              <a:t>人工证据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61104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57284"/>
                </a:solidFill>
                <a:latin typeface="PingFang SC"/>
              </a:rPr>
              <a:t>负责人确认 / 审批单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971800" y="2907792"/>
            <a:ext cx="685800" cy="1325880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1938528"/>
            <a:ext cx="3794760" cy="196596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222199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C68CD"/>
                </a:solidFill>
                <a:latin typeface="PingFang SC"/>
              </a:rPr>
              <a:t>解决方案｜身份解析引擎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779776"/>
            <a:ext cx="31546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232F3F"/>
                </a:solidFill>
                <a:latin typeface="PingFang SC"/>
              </a:rPr>
              <a:t>字段标准化 → 候选召回 → 规则评分
冲突检测 → 自动关联 / 人工确认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2360" y="2907792"/>
            <a:ext cx="777240" cy="0"/>
          </a:xfrm>
          <a:prstGeom prst="line">
            <a:avLst/>
          </a:prstGeom>
          <a:ln w="2540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627632"/>
            <a:ext cx="3200400" cy="27432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883664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946B"/>
                </a:solidFill>
                <a:latin typeface="PingFang SC"/>
              </a:rPr>
              <a:t>方案输出｜统一身份主档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87168"/>
            <a:ext cx="2651760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232F3F"/>
                </a:solidFill>
                <a:latin typeface="PingFang SC"/>
              </a:rPr>
              <a:t>自然人 Person
↕
多系统 Account
↕
权限快照 / 责任人 / 证据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10698480" cy="86868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94349"/>
                </a:solidFill>
                <a:latin typeface="PingFang SC"/>
              </a:rPr>
              <a:t>禁止项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230368"/>
            <a:ext cx="90982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仅凭姓名自动合并；覆盖原始来源数据；删除历史映射证据；把共享账号强行归到个人。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解决方案一｜多字段匹配、置信度分级与人工确认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规则可解释，人工确认可回溯，后续逐步引入模型辅助但不替代责任确认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匹配层级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420624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示例字段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59" y="1417320"/>
            <a:ext cx="137160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可信度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417320"/>
            <a:ext cx="228600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默认动作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2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强标识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20240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2084832"/>
            <a:ext cx="398678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OA 员工编号、itcode、HR 人员 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1920240"/>
            <a:ext cx="1371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084832"/>
            <a:ext cx="11521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2286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084832"/>
            <a:ext cx="20665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自动关联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18288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752344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联系标识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587752"/>
            <a:ext cx="420624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2752344"/>
            <a:ext cx="398678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标准化手机号、企业邮箱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59" y="2587752"/>
            <a:ext cx="13716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752344"/>
            <a:ext cx="11521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中高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587752"/>
            <a:ext cx="22860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2752344"/>
            <a:ext cx="20665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需检查冲突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55264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419856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组合特征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255264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0048" y="3419856"/>
            <a:ext cx="398678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姓名 + 部门 + 直属上级 / 岗位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59" y="3255264"/>
            <a:ext cx="1371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3419856"/>
            <a:ext cx="11521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255264"/>
            <a:ext cx="2286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3419856"/>
            <a:ext cx="20665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进入待确认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922776"/>
            <a:ext cx="18288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4087368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弱特征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922776"/>
            <a:ext cx="420624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0048" y="4087368"/>
            <a:ext cx="398678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仅姓名、昵称、门店名称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59" y="3922776"/>
            <a:ext cx="13716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4087368"/>
            <a:ext cx="11521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922776"/>
            <a:ext cx="22860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4087368"/>
            <a:ext cx="20665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不得自动关联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800600"/>
            <a:ext cx="3200400" cy="96012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12064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2946B"/>
                </a:solidFill>
                <a:latin typeface="PingFang SC"/>
              </a:rPr>
              <a:t>≥ 90 分｜自动关联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79392" y="4800600"/>
            <a:ext cx="3200400" cy="96012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07992" y="512064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E28732"/>
                </a:solidFill>
                <a:latin typeface="PingFang SC"/>
              </a:rPr>
              <a:t>60–89 分｜人工确认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4800600"/>
            <a:ext cx="3611880" cy="96012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5120640"/>
            <a:ext cx="3154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C94349"/>
                </a:solidFill>
                <a:latin typeface="PingFang SC"/>
              </a:rPr>
              <a:t>&lt; 60 分｜保持独立/待调查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961888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" y="6071616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每次关联记录：规则版本、命中字段、分值、确认人、确认时间、原始快照。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核心难点二｜部分系统无法自动开通或关闭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解决方案：不追求一步全自动，而是让接口与人工执行进入同一状态机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554480"/>
            <a:ext cx="1600200" cy="126187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C68CD"/>
                </a:solidFill>
                <a:latin typeface="PingFang SC"/>
              </a:rPr>
              <a:t>申请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本人 / 负责人 / HR 事件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39112" y="2185416"/>
            <a:ext cx="292608" cy="0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40" y="1554480"/>
            <a:ext cx="1600200" cy="126187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D97BC"/>
                </a:solidFill>
                <a:latin typeface="PingFang SC"/>
              </a:rPr>
              <a:t>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直属 / 一级 / 财务负责人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185416"/>
            <a:ext cx="292609" cy="0"/>
          </a:xfrm>
          <a:prstGeom prst="line">
            <a:avLst/>
          </a:prstGeom>
          <a:ln w="1905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15968" y="1554480"/>
            <a:ext cx="1600200" cy="126187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API 自动或线下待办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6168" y="2185416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4496" y="1554480"/>
            <a:ext cx="1600200" cy="126187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回执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接口结果 / 截图 / 单号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185416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93024" y="1554480"/>
            <a:ext cx="1600200" cy="126187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2946B"/>
                </a:solidFill>
                <a:latin typeface="PingFang SC"/>
              </a:rPr>
              <a:t>复核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系统负责人或审计确认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93224" y="2185416"/>
            <a:ext cx="292608" cy="0"/>
          </a:xfrm>
          <a:prstGeom prst="line">
            <a:avLst/>
          </a:prstGeom>
          <a:ln w="1905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31552" y="1554480"/>
            <a:ext cx="1600200" cy="1261872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274A"/>
                </a:solidFill>
                <a:latin typeface="PingFang SC"/>
              </a:rPr>
              <a:t>关闭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0424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状态生效并写审计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429000"/>
            <a:ext cx="5074920" cy="20574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70332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C68CD"/>
                </a:solidFill>
                <a:latin typeface="PingFang SC"/>
              </a:rPr>
              <a:t>可接口系统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233672"/>
            <a:ext cx="448056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自动调用开通/禁用 API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失败重试并转人工待办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回写外部单号与执行结果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429000"/>
            <a:ext cx="5257800" cy="20574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703320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28732"/>
                </a:solidFill>
                <a:latin typeface="PingFang SC"/>
              </a:rPr>
              <a:t>不可接口系统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233672"/>
            <a:ext cx="461772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派发给系统负责人并设置处理时限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上传截图/导出结果/邮件回执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逾期升级至负责人或一级领导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06440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91616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北森离职事件可直接触发“全系统销户核查单”，未确认关闭的账号持续告警。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实现目标与功能｜成本权限治理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一期以导入和只读汇总为主，不改变业务系统现有鉴权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43434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权限目录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274320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按用户查看跨系统权限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按系统查看角色与状态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保留每次导入快照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识别新增、删除、异常变化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43434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E28732"/>
                </a:solidFill>
                <a:latin typeface="PingFang SC"/>
              </a:rPr>
              <a:t>成本权限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95728"/>
            <a:ext cx="274320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查看采购成本等成本敏感权限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绑定业务用途与到期时间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要求更强审批和 二次安全验证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季度必须重新确认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91840" cy="43434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汇报责任链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95728"/>
            <a:ext cx="274320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部门与负责人：支持人工指定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组织架构：从飞书或北森同步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一级领导：按组织关系自动推导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财务负责人：配置化维护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汇报结果：保留签收与意见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698480" cy="47548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609904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28732"/>
                </a:solidFill>
                <a:latin typeface="PingFang SC"/>
              </a:rPr>
              <a:t>当前样本：BIP、来酷 SCM、联想科技 SCM、联酷 SCM 共 181 条成本权限记录。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实现目标与功能｜个人数据与待办流转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邮件可以通知，但不能再作为唯一流程与证据载体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08760"/>
            <a:ext cx="1965960" cy="278892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员工 / 外部人员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404872"/>
            <a:ext cx="1453896" cy="0"/>
          </a:xfrm>
          <a:prstGeom prst="line">
            <a:avLst/>
          </a:prstGeom>
          <a:ln w="1524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发起申请
补充资料
查看进度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07208" y="1508760"/>
            <a:ext cx="1965960" cy="278892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直属负责人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39" y="2404872"/>
            <a:ext cx="1453897" cy="0"/>
          </a:xfrm>
          <a:prstGeom prst="line">
            <a:avLst/>
          </a:prstGeom>
          <a:ln w="1524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90088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业务必要性
人员真实性
账号用途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316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38927" y="1508760"/>
            <a:ext cx="1965960" cy="278892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一级领导 / 财务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59" y="2404872"/>
            <a:ext cx="1453896" cy="0"/>
          </a:xfrm>
          <a:prstGeom prst="line">
            <a:avLst/>
          </a:prstGeom>
          <a:ln w="1524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21807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敏感权限
跨部门授权
例外确认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0488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70648" y="1508760"/>
            <a:ext cx="1965960" cy="278892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系统负责人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26679" y="2404872"/>
            <a:ext cx="1453897" cy="0"/>
          </a:xfrm>
          <a:prstGeom prst="line">
            <a:avLst/>
          </a:prstGeom>
          <a:ln w="1524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53527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执行开通/关闭
上传回执
异常说明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3660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02367" y="1508760"/>
            <a:ext cx="1965960" cy="27889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审计 / 管理员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399" y="2404872"/>
            <a:ext cx="1453897" cy="0"/>
          </a:xfrm>
          <a:prstGeom prst="line">
            <a:avLst/>
          </a:prstGeom>
          <a:ln w="15240">
            <a:solidFill>
              <a:srgbClr val="142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985247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抽检证据
催办升级
生成报告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09160"/>
            <a:ext cx="10698480" cy="987552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5010912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C94349"/>
                </a:solidFill>
                <a:latin typeface="PingFang SC"/>
              </a:rPr>
              <a:t>隐私控制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974336"/>
            <a:ext cx="8503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字段最小化、分级脱敏、按角色授权、下载水印、导出审批、访问审计、到期删除/匿名化。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943600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605332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负责人或上级拥有“代办、催办、转交、确认”能力；离职时其名下待办与资产自动转交。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实现目标与功能｜团队账号管理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管理范围来自飞书/北森组织关系及人工指定责任范围，支持单人和批量操作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359152" cy="224028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2029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C68CD"/>
                </a:solidFill>
                <a:latin typeface="PingFang SC"/>
              </a:rPr>
              <a:t>管理范围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99339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直属人员
下属部门人员
指定代管人员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359152" cy="224028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691640"/>
            <a:ext cx="2029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946B"/>
                </a:solidFill>
                <a:latin typeface="PingFang SC"/>
              </a:rPr>
              <a:t>账号操作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199339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新建账号
申请延期
关闭账号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359152" cy="224028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691640"/>
            <a:ext cx="2029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28732"/>
                </a:solidFill>
                <a:latin typeface="PingFang SC"/>
              </a:rPr>
              <a:t>系统准入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199339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可登录系统
认证有效期
批量授权/回收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417320"/>
            <a:ext cx="2359152" cy="224028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691640"/>
            <a:ext cx="2029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94349"/>
                </a:solidFill>
                <a:latin typeface="PingFang SC"/>
              </a:rPr>
              <a:t>控制边界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331720"/>
            <a:ext cx="199339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说明业务理由
高风险需审批
全量审计留痕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0507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74A"/>
                </a:solidFill>
                <a:latin typeface="PingFang SC"/>
              </a:rPr>
              <a:t>批量操作流程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选择人员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组织/部门/名单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2848" y="5010912"/>
            <a:ext cx="274320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542032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D97BC"/>
                </a:solidFill>
                <a:latin typeface="PingFang SC"/>
              </a:rPr>
              <a:t>选择操作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开通/延期/关闭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0" y="5010912"/>
            <a:ext cx="274320" cy="0"/>
          </a:xfrm>
          <a:prstGeom prst="line">
            <a:avLst/>
          </a:prstGeom>
          <a:ln w="1778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43984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配置策略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系统/角色/有效期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16752" y="5010912"/>
            <a:ext cx="274320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45936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C94349"/>
                </a:solidFill>
                <a:latin typeface="PingFang SC"/>
              </a:rPr>
              <a:t>风险校验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范围/冲突/敏感项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18704" y="5010912"/>
            <a:ext cx="274320" cy="0"/>
          </a:xfrm>
          <a:prstGeom prst="line">
            <a:avLst/>
          </a:prstGeom>
          <a:ln w="17780">
            <a:solidFill>
              <a:srgbClr val="C9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47888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审批执行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API 或线下待办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20656" y="5010912"/>
            <a:ext cx="274320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149840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4274A"/>
                </a:solidFill>
                <a:latin typeface="PingFang SC"/>
              </a:rPr>
              <a:t>结果回执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成功/失败/证据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806440"/>
            <a:ext cx="10698480" cy="475488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591616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94349"/>
                </a:solidFill>
                <a:latin typeface="PingFang SC"/>
              </a:rPr>
              <a:t>成本查看权限不能直接批量授予：负责人发起后，仍需一级领导和财务负责人复核。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核心难点三及解决方案｜季度账号与成本权限如何完成全量核查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解决方案：每季度形成基线、差异、责任确认、整改任务和销户证明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1. 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接口拉取 + 文件导入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66543" y="2130552"/>
            <a:ext cx="292609" cy="0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14016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2. 归一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字段映射与身份关联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05072" y="2130552"/>
            <a:ext cx="292608" cy="0"/>
          </a:xfrm>
          <a:prstGeom prst="line">
            <a:avLst/>
          </a:prstGeom>
          <a:ln w="1905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52544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3. 比对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上期、本期、在职名单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2130552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1072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4. 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负责人/一级领导/财务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8" y="2130552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5. 整改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关闭、调整、补证据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20656" y="2130552"/>
            <a:ext cx="292608" cy="0"/>
          </a:xfrm>
          <a:prstGeom prst="line">
            <a:avLst/>
          </a:prstGeom>
          <a:ln w="1905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68128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77856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6. 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完成率、逾期、风险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364992"/>
            <a:ext cx="3246120" cy="193852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675887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PingFang SC"/>
              </a:rPr>
              <a:t>离职核验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24528"/>
            <a:ext cx="26974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北森离职单触发
逐系统确认关闭
存在账号 = 风险未清零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62272" y="3364992"/>
            <a:ext cx="3246120" cy="193852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3675887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28732"/>
                </a:solidFill>
                <a:latin typeface="PingFang SC"/>
              </a:rPr>
              <a:t>新增与外部账号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4224528"/>
            <a:ext cx="26974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新账号自动进入认领
外部账号绑定 sponsor
到期前 7/3/1 天提醒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364992"/>
            <a:ext cx="3246120" cy="193852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675887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2946B"/>
                </a:solidFill>
                <a:latin typeface="PingFang SC"/>
              </a:rPr>
              <a:t>管理指标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224528"/>
            <a:ext cx="26974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核查覆盖率 / 确认率
逾期账号数 / 平均关闭时长
成本权限复核率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852160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96188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最终产出：按系统、部门、责任人和风险等级生成可追溯汇报包。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解决方案三｜全员确认、分级复核、整改闭环与管理层报告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核查全体用户的全部系统账号；敏感权限当前范围仅包含成本查看权限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298448" cy="117043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2C68CD"/>
                </a:solidFill>
                <a:latin typeface="PingFang SC"/>
              </a:rPr>
              <a:t>系统 / 数据层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07208"/>
            <a:ext cx="1298448" cy="117043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用户与负责人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4528"/>
            <a:ext cx="1298448" cy="117043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系统负责人 / 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2576" y="159105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启动季度任务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2576" y="205740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冻结核查范围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7368" y="1975104"/>
            <a:ext cx="338328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17136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59105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采集全量快照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账号 + 成本权限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91655" y="1975104"/>
            <a:ext cx="338328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21424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159105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身份归集比对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05740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本期 / 上期 / 在职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95944" y="1975104"/>
            <a:ext cx="338328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25712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9105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生成个人核查包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05740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按用户汇总所有系统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04704" y="2560320"/>
            <a:ext cx="0" cy="219456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12848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22576" y="300837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用户本人确认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2576" y="347472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本人账号 / 非本人 / 不再需要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87368" y="3392424"/>
            <a:ext cx="338328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17136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00837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直接负责人复核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47472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账号必要性与用途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91655" y="3392424"/>
            <a:ext cx="338328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21424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300837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成本权限加签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47472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一级领导 + 财务负责人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95944" y="3392424"/>
            <a:ext cx="338328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25712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00837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形成整改意见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47472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保留 / 关闭 / 调整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204704" y="3977640"/>
            <a:ext cx="0" cy="219456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212848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22576" y="442569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派发整改任务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489204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API 自动或线下待办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87368" y="4809744"/>
            <a:ext cx="338328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517136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442569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执行并回传证据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489204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结果 / 截图 / 外部单号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91655" y="4809744"/>
            <a:ext cx="338328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21424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31152" y="442569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复核闭环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1152" y="489204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未关闭持续催办升级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95944" y="4809744"/>
            <a:ext cx="338328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125712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40" y="442569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归档与汇报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89204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报告 + 签收 + 证据包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5742432"/>
            <a:ext cx="10698480" cy="56692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2" y="5916168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4274A"/>
                </a:solidFill>
                <a:latin typeface="PingFang SC"/>
              </a:rPr>
              <a:t>关键分支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56231" y="5879592"/>
            <a:ext cx="9098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普通账号：本人确认 → 直接负责人复核；成本权限：追加一级领导与财务负责人；离职人员：跳过本人确认，直接进入跨系统清零。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技术实现与一期计划｜技术架构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沿用 Logto/OIDC 方案基础，新增身份治理、工作流和对账能力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10835640" cy="658368"/>
          </a:xfrm>
          <a:prstGeom prst="round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287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登录门户    个人中心    管理后台    审计报表    OpenAPI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2011680"/>
            <a:ext cx="0" cy="32004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331720"/>
            <a:ext cx="2423160" cy="12344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542032"/>
            <a:ext cx="20848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C68CD"/>
                </a:solidFill>
                <a:latin typeface="PingFang SC"/>
              </a:rPr>
              <a:t>认证服务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26080"/>
            <a:ext cx="208483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Logto / OIDC
MFA / WebAuthn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331720"/>
            <a:ext cx="2423160" cy="12344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542032"/>
            <a:ext cx="20848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2946B"/>
                </a:solidFill>
                <a:latin typeface="PingFang SC"/>
              </a:rPr>
              <a:t>身份治理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926080"/>
            <a:ext cx="208483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Person / Account
匹配与冲突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31720"/>
            <a:ext cx="2423160" cy="12344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542032"/>
            <a:ext cx="20848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流程中心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926080"/>
            <a:ext cx="208483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申请 / 审批
待办 / 处理时限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331720"/>
            <a:ext cx="2423160" cy="123444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2542032"/>
            <a:ext cx="20848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C94349"/>
                </a:solidFill>
                <a:latin typeface="PingFang SC"/>
              </a:rPr>
              <a:t>审计对账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926080"/>
            <a:ext cx="208483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快照 / 差异
季度复核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3566160"/>
            <a:ext cx="0" cy="292608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3858768"/>
            <a:ext cx="10835640" cy="65836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50791"/>
            <a:ext cx="10378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4274A"/>
                </a:solidFill>
                <a:latin typeface="PingFang SC"/>
              </a:rPr>
              <a:t>PostgreSQL（治理/审计分区）   Redis（限流/任务）   对象存储（回执证据）   消息队列（事件）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65776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主数据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502920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OA / 飞书 / 北森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5065776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业务系统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02920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OIDC / API / 文件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065776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协同审批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502920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飞书 / OA / 邮件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5065776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通知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502920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IM / 短信 / 邮箱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925312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6035040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安全边界：凭证只存认证服务；业务系统保留本地授权；审计事件只增不改。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技术实现与一期计划｜核心数据模型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满足一人多账号、共享账号、外部人员、历史快照和人工确认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2148840" cy="12344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7744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Person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5234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统一身份
员工/外部/服务身份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71600"/>
            <a:ext cx="2148840" cy="12344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55448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2938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系统账号
状态/最后登录/有效期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154680"/>
            <a:ext cx="2148840" cy="12344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33756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Access Grant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71246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系统准入
策略/审批/到期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371600"/>
            <a:ext cx="2148840" cy="12344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55448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Permission Snapshot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92938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权限快照
普通/特殊/来源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154680"/>
            <a:ext cx="2148840" cy="123444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333756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94349"/>
                </a:solidFill>
                <a:latin typeface="PingFang SC"/>
              </a:rPr>
              <a:t>Responsibility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71246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责任链
直属/一级/财务/sponsor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2194560"/>
            <a:ext cx="2148840" cy="123444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37744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Evidence &amp;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5234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证据与审计
回执/规则/确认/事件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807208" y="1984248"/>
            <a:ext cx="164592" cy="822960"/>
          </a:xfrm>
          <a:prstGeom prst="line">
            <a:avLst/>
          </a:prstGeom>
          <a:ln w="2032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07208" y="2807208"/>
            <a:ext cx="164592" cy="960120"/>
          </a:xfrm>
          <a:prstGeom prst="line">
            <a:avLst/>
          </a:prstGeom>
          <a:ln w="2032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1984248"/>
            <a:ext cx="594360" cy="0"/>
          </a:xfrm>
          <a:prstGeom prst="line">
            <a:avLst/>
          </a:prstGeom>
          <a:ln w="2032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20640" y="3767328"/>
            <a:ext cx="594360" cy="0"/>
          </a:xfrm>
          <a:prstGeom prst="line">
            <a:avLst/>
          </a:prstGeom>
          <a:ln w="2032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1984248"/>
            <a:ext cx="594360" cy="822960"/>
          </a:xfrm>
          <a:prstGeom prst="line">
            <a:avLst/>
          </a:prstGeom>
          <a:ln w="2032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863840" y="2807208"/>
            <a:ext cx="594360" cy="960120"/>
          </a:xfrm>
          <a:prstGeom prst="line">
            <a:avLst/>
          </a:prstGeom>
          <a:ln w="20320">
            <a:solidFill>
              <a:srgbClr val="C9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" y="4892040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148072"/>
            <a:ext cx="10195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4274A"/>
                </a:solidFill>
                <a:latin typeface="PingFang SC"/>
              </a:rPr>
              <a:t>Identity Link 单独建表：source_account_id + person_id + score + matched_fields + rule_version + confirmed_by + valid_time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907024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6016752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所有来源表保留 raw snapshot；统一字段是治理视图，不覆盖源系统事实。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技术实现与一期计划｜一期建设范围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接口与手工并存，优先覆盖内审高频系统与成本权限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6629400" cy="44348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2"/>
            <a:ext cx="6035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一期必须交付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13432"/>
            <a:ext cx="6035040" cy="2926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登录门户：密码、邮箱/手机验证码、MFA；飞书联合登录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OIDC 接入模板：系统注册、回调白名单、secret 轮换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统一身份主档：Excel 导入、字段映射、匹配分流、人工捏对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账号/权限目录：系统准入、有效期、权限快照、成本权限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待办闭环：开通、变更、关闭、季度复核，支持线下回执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审计与报表：离职销户核查、成本权限责任链汇报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389888"/>
            <a:ext cx="3703320" cy="203911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28732"/>
                </a:solidFill>
                <a:latin typeface="PingFang SC"/>
              </a:rPr>
              <a:t>一期建议试点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80"/>
            <a:ext cx="31546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F3F"/>
                </a:solidFill>
                <a:latin typeface="PingFang SC"/>
              </a:rPr>
              <a:t>5 个账号治理系统
2 个 OIDC 登录接入系统
4 套成本权限清单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794760"/>
            <a:ext cx="3703320" cy="202996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409651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74A"/>
                </a:solidFill>
                <a:latin typeface="PingFang SC"/>
              </a:rPr>
              <a:t>暂缓到二期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645152"/>
            <a:ext cx="31546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企业微信/北森联合登录扩展
更多系统自动开关账号
高级风险模型与移动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16752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6126480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交互原型已具备：O-V2.0 用户中心原型（关联/台账/生命周期/成本复核/季度流程/团队账号）。试点按风险高、数据可得、负责人配合、接口代表性评分。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技术实现与一期计划｜实施路线图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扩展后的治理范围明显大于原统一登录 MVP，不建议沿用 1–2 人、6–8 周口径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63040"/>
            <a:ext cx="1234440" cy="329184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P0｜2 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965960"/>
            <a:ext cx="1965960" cy="21488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C68CD"/>
                </a:solidFill>
                <a:latin typeface="PingFang SC"/>
              </a:rPr>
              <a:t>范围冻结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系统清册
字段字典
责任链确认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04872" y="3017520"/>
            <a:ext cx="256032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53512" y="1463040"/>
            <a:ext cx="1234440" cy="329184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D97BC"/>
                </a:solidFill>
                <a:latin typeface="PingFang SC"/>
              </a:rPr>
              <a:t>P1｜4 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965960"/>
            <a:ext cx="1965960" cy="21488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5224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D97BC"/>
                </a:solidFill>
                <a:latin typeface="PingFang SC"/>
              </a:rPr>
              <a:t>身份底座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统一主档
导入映射
匹配工作台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2" y="3017520"/>
            <a:ext cx="256032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85232" y="1463040"/>
            <a:ext cx="1234440" cy="329184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P2｜4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965960"/>
            <a:ext cx="1965960" cy="21488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946B"/>
                </a:solidFill>
                <a:latin typeface="PingFang SC"/>
              </a:rPr>
              <a:t>认证接入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Logto/OIDC
MFA/策略
2 系统试点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68312" y="3017520"/>
            <a:ext cx="256032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16951" y="1463040"/>
            <a:ext cx="1234440" cy="329184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P3｜4 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4071" y="1965960"/>
            <a:ext cx="1965960" cy="21488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3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28732"/>
                </a:solidFill>
                <a:latin typeface="PingFang SC"/>
              </a:rPr>
              <a:t>治理闭环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3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工单待办
权限快照
离职核验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0032" y="3017520"/>
            <a:ext cx="256031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48672" y="1463040"/>
            <a:ext cx="1234440" cy="329184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P4｜2 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65792" y="1965960"/>
            <a:ext cx="1965960" cy="214884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0384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94349"/>
                </a:solidFill>
                <a:latin typeface="PingFang SC"/>
              </a:rPr>
              <a:t>试运行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季度演练
安全测试
验收汇报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81728"/>
            <a:ext cx="10698480" cy="987552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98348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A"/>
                </a:solidFill>
                <a:latin typeface="PingFang SC"/>
              </a:rPr>
              <a:t>建议核心团队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937760"/>
            <a:ext cx="8046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产品 1｜架构/后端 2–3｜前端 1–2｜测试 1｜数据运营 1｜安全与运维兼职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870448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980176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里程碑出口：试点可登录、账号可关联、离职可闭环、季度可归档、报告可生成；配套上线回滚与验收门禁。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当前问题与待确认｜风险及评审决策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建议本次评审明确 6 个决策点；V1.1 同步确认上线策略与文档目录落位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841248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17904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94349"/>
                </a:solidFill>
                <a:latin typeface="PingFang SC"/>
              </a:rPr>
              <a:t>身份误关联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2" y="1499616"/>
            <a:ext cx="35204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低置信度不自动合并；保留证据和可撤销映射。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84124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17904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8732"/>
                </a:solidFill>
                <a:latin typeface="PingFang SC"/>
              </a:rPr>
              <a:t>接口能力不足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1499616"/>
            <a:ext cx="35204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统一状态机支持自动与人工执行，不把“无接口”当阻塞。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5120640" cy="84124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15184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C68CD"/>
                </a:solidFill>
                <a:latin typeface="PingFang SC"/>
              </a:rPr>
              <a:t>审批链易变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596896"/>
            <a:ext cx="35204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按权限类型配置路由，负责人数据来自主数据并允许授权维护。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5120640" cy="84124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615184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2946B"/>
                </a:solidFill>
                <a:latin typeface="PingFang SC"/>
              </a:rPr>
              <a:t>权限边界混淆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596896"/>
            <a:ext cx="35204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一期只读聚合；业务系统继续负责实时鉴权。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703320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74A"/>
                </a:solidFill>
                <a:latin typeface="PingFang SC"/>
              </a:rPr>
              <a:t>请评审确认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87952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224528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PingFang SC"/>
              </a:rPr>
              <a:t>统一身份权威源：OA / 飞书 / 北森各自负责哪些字段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87952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224528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PingFang SC"/>
              </a:rPr>
              <a:t>一期试点系统清单与系统负责人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791456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普通账号、敏感权限、外部人员的审批链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754880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4791456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系统级认证有效期与 MFA 强度基线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21808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358384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线下执行回执标准与逾期升级时限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321808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5358384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一期 16 周与核心团队资源是否确认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V1.1 优化摘要｜相对 V1.0 补齐什么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不改业务主线，补齐标准开发方案缺失环节，并与 O-V2.0 交互原型对齐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0000"/>
            <a:ext cx="2650000" cy="470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80" y="1600000"/>
            <a:ext cx="2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68CD"/>
                </a:solidFill>
                <a:latin typeface="Microsoft YaHei"/>
              </a:rPr>
              <a:t>标准环节补齐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80" y="2200000"/>
            <a:ext cx="23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上线发布 / 灰度 / 回滚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监控告警与 Runbook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验收 DoD 与安全门禁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组织 RACI 与评审门禁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80" y="1380000"/>
            <a:ext cx="2650000" cy="4700000"/>
          </a:xfrm>
          <a:prstGeom prst="roundRect">
            <a:avLst>
              <a:gd name="adj" fmla="val 8000"/>
            </a:avLst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0080" y="1600000"/>
            <a:ext cx="2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946B"/>
                </a:solidFill>
                <a:latin typeface="Microsoft YaHei"/>
              </a:rPr>
              <a:t>文档体系优化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0080" y="2200000"/>
            <a:ext cx="23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按 00–06 标准目录重组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原型与正式文档分层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PRD/SRS/开工包回写清单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ADR 决策沉淀位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80" y="1380000"/>
            <a:ext cx="2650000" cy="4700000"/>
          </a:xfrm>
          <a:prstGeom prst="roundRect">
            <a:avLst>
              <a:gd name="adj" fmla="val 8000"/>
            </a:avLst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0080" y="1600000"/>
            <a:ext cx="2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8732"/>
                </a:solidFill>
                <a:latin typeface="Microsoft YaHei"/>
              </a:rPr>
              <a:t>原型对齐（O-V2.0）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0080" y="2200000"/>
            <a:ext cx="23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账号关联工作台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系统账号台账 + 生命周期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成本权限复核（仅成本）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季度核查四阶段流程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0080" y="1380000"/>
            <a:ext cx="2650000" cy="4700000"/>
          </a:xfrm>
          <a:prstGeom prst="roundRect">
            <a:avLst>
              <a:gd name="adj" fmla="val 8000"/>
            </a:avLst>
          </a:prstGeom>
          <a:solidFill>
            <a:srgbClr val="F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0080" y="1600000"/>
            <a:ext cx="2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4349"/>
                </a:solidFill>
                <a:latin typeface="Microsoft YaHei"/>
              </a:rPr>
              <a:t>预期收益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0080" y="2200000"/>
            <a:ext cx="23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方案完整度 6.7 → ≈9/10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评审可拍板上线策略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研发可按 M2 backlog 拆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内审闭环可演示验收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标准开发方案符合度｜现状与 V1.1 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按 10 个标准环节评分：V1.0≈6.7/10；本版目录与内容补齐后目标≈9.0/10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00000"/>
            <a:ext cx="10900000" cy="500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1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68CD"/>
                </a:solidFill>
                <a:latin typeface="Microsoft YaHei"/>
              </a:rPr>
              <a:t>标准环节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0" y="1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68CD"/>
                </a:solidFill>
                <a:latin typeface="Microsoft YaHei"/>
              </a:rPr>
              <a:t>V1.0 得分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0" y="1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68CD"/>
                </a:solidFill>
                <a:latin typeface="Microsoft YaHei"/>
              </a:rPr>
              <a:t>V1.1 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18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背景与目标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0000" y="18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1.0 已具备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0000" y="18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保持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22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需求与范围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0000" y="22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1.0 已具备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0" y="22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+V2.0 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00" y="26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现状与约束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0000" y="26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0.4 偏薄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0000" y="26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AS-IS 专章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00" y="30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方案设计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0000" y="30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0.9 已具备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0000" y="30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+治理流程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000" y="34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技术选型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0000" y="34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0.8 已具备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0000" y="34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+ADR 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000" y="38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实施拆解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0000" y="38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0.7 中等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0000" y="38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M1/M2 拆分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42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质量保障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0000" y="42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0.8 已具备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0000" y="42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DoD/门禁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000" y="46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上线与运维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0000" y="46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0.2 缺失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0" y="46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发布回滚监控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000" y="50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风险与应急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0000" y="50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0.6 中等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0000" y="50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触发与预案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000" y="54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Microsoft YaHei"/>
              </a:rPr>
              <a:t>组织与协作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0000" y="54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7284"/>
                </a:solidFill>
                <a:latin typeface="Microsoft YaHei"/>
              </a:rPr>
              <a:t>0.3 偏薄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0000" y="5450000"/>
            <a:ext cx="3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946B"/>
                </a:solidFill>
                <a:latin typeface="Microsoft YaHei"/>
              </a:rPr>
              <a:t>RACI/门禁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上线运维与质量验收｜发布、灰度与回滚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上线不是“赌一把”：发布可分批、失败可回滚、证据可追踪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0000"/>
            <a:ext cx="3500000" cy="470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080" y="160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Microsoft YaHei"/>
              </a:rPr>
              <a:t>发布策略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080" y="2200000"/>
            <a:ext cx="31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金丝雀：内部租户/试点系统先发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分批：登录模块与治理模块可分轨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开关：匹配自动合并、批量关闭可降级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变更窗口：避开季度核查高峰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0080" y="1380000"/>
            <a:ext cx="3500000" cy="4700000"/>
          </a:xfrm>
          <a:prstGeom prst="roundRect">
            <a:avLst>
              <a:gd name="adj" fmla="val 8000"/>
            </a:avLst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0080" y="160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8732"/>
                </a:solidFill>
                <a:latin typeface="Microsoft YaHei"/>
              </a:rPr>
              <a:t>回滚触发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0080" y="2200000"/>
            <a:ext cx="31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登录成功率 &lt; 99%（排除输错）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SEC-* 一票否决用例失败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离职关闭任务大面积超时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错误关联导致批量误操作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0080" y="1380000"/>
            <a:ext cx="3500000" cy="4700000"/>
          </a:xfrm>
          <a:prstGeom prst="roundRect">
            <a:avLst>
              <a:gd name="adj" fmla="val 8000"/>
            </a:avLst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080" y="160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946B"/>
                </a:solidFill>
                <a:latin typeface="Microsoft YaHei"/>
              </a:rPr>
              <a:t>回滚动作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080" y="2200000"/>
            <a:ext cx="31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网关切回上一稳定版本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关闭高风险自动化开关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冻结季度批次与批量任务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保留审计与回执不回滚删除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上线运维与质量验收｜监控告警与 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观测覆盖登录漏斗、治理任务与季度流程；告警必须落到人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0000"/>
            <a:ext cx="3500000" cy="220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080" y="158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68CD"/>
                </a:solidFill>
                <a:latin typeface="Microsoft YaHei"/>
              </a:rPr>
              <a:t>登录漏斗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080" y="208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Microsoft YaHei"/>
              </a:rPr>
              <a:t>发码/验码/bootstrap/选租户成功率；token exchange P95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0080" y="1380000"/>
            <a:ext cx="3500000" cy="220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0080" y="158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68CD"/>
                </a:solidFill>
                <a:latin typeface="Microsoft YaHei"/>
              </a:rPr>
              <a:t>安全事件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0080" y="208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Microsoft YaHei"/>
              </a:rPr>
              <a:t>锁定、踢人、密钥轮换、二次安全验证 失败率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0080" y="1380000"/>
            <a:ext cx="3500000" cy="220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080" y="158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68CD"/>
                </a:solidFill>
                <a:latin typeface="Microsoft YaHei"/>
              </a:rPr>
              <a:t>关联队列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080" y="208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Microsoft YaHei"/>
              </a:rPr>
              <a:t>待人工确认积压、高置信度自动关联量、误关联撤销数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80000"/>
            <a:ext cx="3500000" cy="2200000"/>
          </a:xfrm>
          <a:prstGeom prst="roundRect">
            <a:avLst>
              <a:gd name="adj" fmla="val 8000"/>
            </a:avLst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080" y="398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946B"/>
                </a:solidFill>
                <a:latin typeface="Microsoft YaHei"/>
              </a:rPr>
              <a:t>生命周期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80" y="448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Microsoft YaHei"/>
              </a:rPr>
              <a:t>任务超时数、线下回执逾期、离职关闭平均时长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0080" y="3780000"/>
            <a:ext cx="3500000" cy="2200000"/>
          </a:xfrm>
          <a:prstGeom prst="roundRect">
            <a:avLst>
              <a:gd name="adj" fmla="val 8000"/>
            </a:avLst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0080" y="398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946B"/>
                </a:solidFill>
                <a:latin typeface="Microsoft YaHei"/>
              </a:rPr>
              <a:t>季度核查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080" y="448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Microsoft YaHei"/>
              </a:rPr>
              <a:t>确认率/完成率/催办次数；成本权限加签完成率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0080" y="3780000"/>
            <a:ext cx="3500000" cy="2200000"/>
          </a:xfrm>
          <a:prstGeom prst="roundRect">
            <a:avLst>
              <a:gd name="adj" fmla="val 8000"/>
            </a:avLst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080" y="398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946B"/>
                </a:solidFill>
                <a:latin typeface="Microsoft YaHei"/>
              </a:rPr>
              <a:t>依赖健康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080" y="448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Microsoft YaHei"/>
              </a:rPr>
              <a:t>Logto / 飞书 / 北森 / 对象存储可用性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上线运维与质量验收｜验收 DoD 与门禁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出口不是页面完成，而是试点闭环可演示、安全门禁全绿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50000"/>
            <a:ext cx="5300000" cy="480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000" y="155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68CD"/>
                </a:solidFill>
                <a:latin typeface="Microsoft YaHei"/>
              </a:rPr>
              <a:t>功能验收主路径（对齐 O-V2.0 原型）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000" y="2100000"/>
            <a:ext cx="48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1) 导入账号清单 → 分层匹配 → 人工捏对/保持独立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2) 台账可查：身份/组织/负责人/有效期/执行方式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3) 北森离职 → 生命周期任务 → API 或线下回执闭环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4) 成本权限复核：负责人→一级领导→财务加签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5) 季度四阶段：本人确认→负责人复核→整改→归档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6) 团队账号管理：准入/有效期/新建延期关闭（含批量）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7) 登录：飞书/企微/北森入口 + MFA/生物识别二次安全验证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350000"/>
            <a:ext cx="5300000" cy="4800000"/>
          </a:xfrm>
          <a:prstGeom prst="roundRect">
            <a:avLst>
              <a:gd name="adj" fmla="val 8000"/>
            </a:avLst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0" y="155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8732"/>
                </a:solidFill>
                <a:latin typeface="Microsoft YaHei"/>
              </a:rPr>
              <a:t>发布门禁（任一失败禁止上线）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2100000"/>
            <a:ext cx="48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SEC-01~10 安全一票否决全部 PASS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误关联可撤销；批量关闭二次确认+审计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线下任务无回执不可完结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季度未归档不可结案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CI：lint + 单测 + 契约校验通过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回滚演练记录齐全（含开关降级）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• 监控大盘与告警接收人已配置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组织协作与文档体系｜RACI 与评审门禁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谁决策、谁执行、谁验收写清楚，避免“人人都管、无人负责”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300000"/>
            <a:ext cx="11000000" cy="420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13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68CD"/>
                </a:solidFill>
                <a:latin typeface="Microsoft YaHei"/>
              </a:rPr>
              <a:t>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0000" y="1450000"/>
            <a:ext cx="13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68CD"/>
                </a:solidFill>
                <a:latin typeface="Microsoft YaHei"/>
              </a:rPr>
              <a:t>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1450000"/>
            <a:ext cx="13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68CD"/>
                </a:solidFill>
                <a:latin typeface="Microsoft YaHei"/>
              </a:rPr>
              <a:t>架构/后端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0000" y="1450000"/>
            <a:ext cx="13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68CD"/>
                </a:solidFill>
                <a:latin typeface="Microsoft YaHei"/>
              </a:rP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0" y="1450000"/>
            <a:ext cx="13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68CD"/>
                </a:solidFill>
                <a:latin typeface="Microsoft YaHei"/>
              </a:rPr>
              <a:t>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0000" y="1450000"/>
            <a:ext cx="13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68CD"/>
                </a:solidFill>
                <a:latin typeface="Microsoft YaHei"/>
              </a:rPr>
              <a:t>安全/运维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0000" y="1450000"/>
            <a:ext cx="13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68CD"/>
                </a:solidFill>
                <a:latin typeface="Microsoft YaHei"/>
              </a:rPr>
              <a:t>业务负责人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18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A"/>
                </a:solidFill>
                <a:latin typeface="Microsoft YaHei"/>
              </a:rPr>
              <a:t>范围与试点清单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0000" y="18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Microsoft YaHe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0" y="18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0000" y="18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000" y="18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0000" y="18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00" y="18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Microsoft YaHei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" y="237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A"/>
                </a:solidFill>
                <a:latin typeface="Microsoft YaHei"/>
              </a:rPr>
              <a:t>匹配规则/阈值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0000" y="237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Microsoft YaHei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0" y="237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Microsoft YaHei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0000" y="237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0000" y="237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0000" y="237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00" y="237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000" y="289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A"/>
                </a:solidFill>
                <a:latin typeface="Microsoft YaHei"/>
              </a:rPr>
              <a:t>OIDC/MFA 基线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50000" y="289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0" y="289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Microsoft YaHei"/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0000" y="289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0000" y="289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0000" y="289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Microsoft YaHei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00" y="289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000" y="341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A"/>
                </a:solidFill>
                <a:latin typeface="Microsoft YaHei"/>
              </a:rPr>
              <a:t>审批链配置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50000" y="341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Microsoft YaHei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0000" y="341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0000" y="341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0000" y="341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0000" y="341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0000" y="341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Microsoft YaHei"/>
              </a:rPr>
              <a:t>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0000" y="393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A"/>
                </a:solidFill>
                <a:latin typeface="Microsoft YaHei"/>
              </a:rPr>
              <a:t>上线/回滚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50000" y="393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0000" y="393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Microsoft YaHei"/>
              </a:rPr>
              <a:t>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50000" y="393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00000" y="393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0000" y="393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Microsoft YaHei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00" y="393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0000" y="44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74A"/>
                </a:solidFill>
                <a:latin typeface="Microsoft YaHei"/>
              </a:rPr>
              <a:t>季度审计结案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50000" y="44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00000" y="44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50000" y="44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00000" y="44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0000" y="44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57284"/>
                </a:solidFill>
                <a:latin typeface="Microsoft YaHe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0000" y="4450000"/>
            <a:ext cx="13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Microsoft YaHei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650000"/>
            <a:ext cx="10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57284"/>
                </a:solidFill>
                <a:latin typeface="Microsoft YaHei"/>
              </a:rPr>
              <a:t>门禁：需求评审 → 架构/安全评审 → 开工包契约评审 → 发布评审。A=Accountable 拍板，R=Responsible 执行，C=Consulted 咨询，I=Informed 知会。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组织协作与文档体系｜标准目录与原型回写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原型是输入，不是正式需求；O-V2.0 HTML 需回写 PRD/SRS/开工包后才可排期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50000"/>
            <a:ext cx="5300000" cy="480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000" y="1500000"/>
            <a:ext cx="4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68CD"/>
                </a:solidFill>
                <a:latin typeface="Microsoft YaHei"/>
              </a:rPr>
              <a:t>建议文档目录（方案包）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000" y="2000000"/>
            <a:ext cx="48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00-总览：背景目标 / AS-IS 约束 / 范围不做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01-需求：PRD / SRS / 原型（SSO+用户中心）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02-方案：架构资源 / 架构图 / OpenAPI / DDL / ADR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03-实施：里程碑排期 / M1-SSO / M2-身份治理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04-质量：测试策略 / 验收 DoD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05-上线运维：发布灰度 / 回滚 / 监控 / Runbook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06-风险组织：风险应急 / RACI 评审门禁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99-变更记录：O-V1.5 / O-V2.0 UPDATE-RECORD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350000"/>
            <a:ext cx="5300000" cy="4800000"/>
          </a:xfrm>
          <a:prstGeom prst="roundRect">
            <a:avLst>
              <a:gd name="adj" fmla="val 8000"/>
            </a:avLst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0" y="1500000"/>
            <a:ext cx="4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946B"/>
                </a:solidFill>
                <a:latin typeface="Microsoft YaHei"/>
              </a:rPr>
              <a:t>原型 → 正式文档回写优先级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2000000"/>
            <a:ext cx="48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P0 PRD：双模块定位、页面清单、KPI、范围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P0 SRS：O-LINK / O-LC / O-QTR / O-TEAM / O-COST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P0 开工包：OpenAPI + DDL + M2 Backlog + GOV 用例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P1 整体方案：角色、阶段 O4/M2、验收故事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P1 架构：关联引擎/任务编排/组织同步/实体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P1 上线运维四件套（本页第 05 部分）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明确：一期敏感权限范围仅成本查看权限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F3F"/>
                </a:solidFill>
                <a:latin typeface="Microsoft YaHei"/>
              </a:rPr>
              <a:t>• 明确：权限目录默认只读聚合，推送变更需 ADR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Microsoft YaHei"/>
              </a:rPr>
              <a:t>风险与待确认｜应急预案与 V1.1 新增决策点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Microsoft YaHei"/>
              </a:rPr>
              <a:t>在 V1.0 六个决策点之外，补齐上线与文档落位相关确认项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5875">
            <a:solidFill>
              <a:srgbClr val="D5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Microsoft YaHe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Microsoft YaHei"/>
              </a:rPr>
              <a:t>lecoo 用户中心｜开发方案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Microsoft YaHei"/>
              </a:rPr>
              <a:t>内部评审材料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50000"/>
            <a:ext cx="5600000" cy="1050000"/>
          </a:xfrm>
          <a:prstGeom prst="roundRect">
            <a:avLst>
              <a:gd name="adj" fmla="val 8000"/>
            </a:avLst>
          </a:prstGeom>
          <a:solidFill>
            <a:srgbClr val="F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000" y="151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4349"/>
                </a:solidFill>
                <a:latin typeface="Microsoft YaHei"/>
              </a:rPr>
              <a:t>误关联应急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000" y="183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Microsoft YaHei"/>
              </a:rPr>
              <a:t>立即停用自动合并；批量撤销映射；审计溯源；通报影响系统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00000"/>
            <a:ext cx="5600000" cy="1050000"/>
          </a:xfrm>
          <a:prstGeom prst="roundRect">
            <a:avLst>
              <a:gd name="adj" fmla="val 8000"/>
            </a:avLst>
          </a:prstGeom>
          <a:solidFill>
            <a:srgbClr val="F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266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4349"/>
                </a:solidFill>
                <a:latin typeface="Microsoft YaHei"/>
              </a:rPr>
              <a:t>误关闭应急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" y="298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Microsoft YaHei"/>
              </a:rPr>
              <a:t>冻结批量关闭；按回执/备份恢复；升级系统负责人与一级领导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0000"/>
            <a:ext cx="5600000" cy="1050000"/>
          </a:xfrm>
          <a:prstGeom prst="roundRect">
            <a:avLst>
              <a:gd name="adj" fmla="val 8000"/>
            </a:avLst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381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8732"/>
                </a:solidFill>
                <a:latin typeface="Microsoft YaHei"/>
              </a:rPr>
              <a:t>依赖中断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000" y="413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Microsoft YaHei"/>
              </a:rPr>
              <a:t>Logto/飞书/北森不可用时启用降级登录与手工任务通道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00000"/>
            <a:ext cx="5600000" cy="1050000"/>
          </a:xfrm>
          <a:prstGeom prst="roundRect">
            <a:avLst>
              <a:gd name="adj" fmla="val 8000"/>
            </a:avLst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000" y="496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8732"/>
                </a:solidFill>
                <a:latin typeface="Microsoft YaHei"/>
              </a:rPr>
              <a:t>季度卡死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00" y="528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Microsoft YaHei"/>
              </a:rPr>
              <a:t>冻结批次；允许管理员代确认（留痕）；会后补签收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0000" y="1350000"/>
            <a:ext cx="5000000" cy="4800000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0000" y="1550000"/>
            <a:ext cx="4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68CD"/>
                </a:solidFill>
                <a:latin typeface="Microsoft YaHei"/>
              </a:rPr>
              <a:t>V1.1 新增请确认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0000" y="2100000"/>
            <a:ext cx="4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07 发布策略：金丝雀租户与分批顺序</a:t>
            </a:r>
          </a:p>
          <a:p>
            <a:pPr algn="l">
              <a:spcAft>
                <a:spcPts val="12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08 回滚演练时间与责任人</a:t>
            </a:r>
          </a:p>
          <a:p>
            <a:pPr algn="l">
              <a:spcAft>
                <a:spcPts val="12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09 文档目录是否按 00–06 重组落地</a:t>
            </a:r>
          </a:p>
          <a:p>
            <a:pPr algn="l">
              <a:spcAft>
                <a:spcPts val="12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10 O-V2.0 原型回写 PRD/SRS 的完成时点</a:t>
            </a:r>
          </a:p>
          <a:p>
            <a:pPr algn="l">
              <a:spcAft>
                <a:spcPts val="12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11 一期接入系统 Top-N 最终名单</a:t>
            </a:r>
          </a:p>
          <a:p>
            <a:pPr algn="l">
              <a:spcAft>
                <a:spcPts val="1200"/>
              </a:spcAft>
            </a:pPr>
            <a:r>
              <a:rPr sz="1300">
                <a:solidFill>
                  <a:srgbClr val="232F3F"/>
                </a:solidFill>
                <a:latin typeface="Microsoft YaHei"/>
              </a:rPr>
              <a:t>12 监控告警接收群与值班表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lecoo 用户中心开发方案与实施路线图</dc:title>
  <dc:subject>统一登录、身份治理、账号安全管理与审计</dc:subject>
  <dc:creator>lecoo</dc:creator>
  <cp:keywords>用户中心, SSO, 身份治理, 账号审计, MFA, OIDC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