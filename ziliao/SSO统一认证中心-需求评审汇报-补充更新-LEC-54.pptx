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91695" cy="155448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</a:rPr>
              <a:t>SSO 统一登录认证中心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E8F0F4"/>
                </a:solidFill>
                <a:latin typeface="Microsoft YaHei"/>
                <a:ea typeface="Microsoft YaHei"/>
              </a:rPr>
              <a:t>需求评审汇报 · 补充更新版（流程图 / 数据流转图）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1089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Microsoft YaHei"/>
                <a:ea typeface="Microsoft YaHei"/>
              </a:rPr>
              <a:t>基线：附件《SSO统一认证中心-需求评审汇报》10 页原文
本次增量：14 模块功能流程图 + 各模块数据流转图 + PPT 更新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6692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Microsoft YaHei"/>
                <a:ea typeface="Microsoft YaHei"/>
              </a:rPr>
              <a:t>LEC-54 · 2026-07-30 · Taylor
参考 SRS/PRD V1.1 评审终版模块边界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</a:rPr>
              <a:t>本次补充范围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6B73"/>
                </a:solidFill>
                <a:latin typeface="Microsoft YaHei"/>
                <a:ea typeface="Microsoft YaHei"/>
              </a:rPr>
              <a:t>相对原附件 10 页评审 PPT，新增模块级流程图与数据流转图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0196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Microsoft YaHei"/>
                <a:ea typeface="Microsoft YaHei"/>
              </a:rPr>
              <a:t>SSO 统一登录认证中心 · LEC-54 补充更新 · 流程图 / 数据流转图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371600"/>
            <a:ext cx="3657600" cy="4754880"/>
          </a:xfrm>
          <a:prstGeom prst="roundRect">
            <a:avLst/>
          </a:prstGeom>
          <a:solidFill>
            <a:srgbClr val="E8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630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2A44"/>
                </a:solidFill>
                <a:latin typeface="Microsoft YaHei"/>
                <a:ea typeface="Microsoft YaHei"/>
              </a:rPr>
              <a:t>① 功能流程图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83080"/>
            <a:ext cx="338328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Microsoft YaHei"/>
                <a:ea typeface="Microsoft YaHei"/>
              </a:rPr>
              <a:t>• 登录门户 / SSO 无感续登
• 飞书身份同步
• 员工端工作台与个人中心
• 工单四类流程
• 应用接入与双 Key
• Skill 对接与沙箱联调
• 外部人员 90 天生命周期
• 审批双渠道路由
• 管理员踢人 / SLO
• 审计只增不改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371600"/>
            <a:ext cx="3657600" cy="4754880"/>
          </a:xfrm>
          <a:prstGeom prst="roundRect">
            <a:avLst/>
          </a:prstGeom>
          <a:solidFill>
            <a:srgbClr val="F8E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14630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2A44"/>
                </a:solidFill>
                <a:latin typeface="Microsoft YaHei"/>
                <a:ea typeface="Microsoft YaHei"/>
              </a:rPr>
              <a:t>② 数据流转图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1783080"/>
            <a:ext cx="338328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Microsoft YaHei"/>
                <a:ea typeface="Microsoft YaHei"/>
              </a:rPr>
              <a:t>• 身份主数据：飞书 → 用户中心
• 认证票据：门户 ↔ CAS/OIDC ↔ 应用
• 会话：全局 Session ↔ 子系统
• 应用凭证：审核 → Vault 哈希
• 授权：角色 → 应用权限矩阵
• 工单：申请 → 审批 → 写回
• 审计：全链路事件总线落库
• Webhook / OpenAPI 出站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371600"/>
            <a:ext cx="3749039" cy="4754880"/>
          </a:xfrm>
          <a:prstGeom prst="roundRect">
            <a:avLst/>
          </a:prstGeom>
          <a:solidFill>
            <a:srgbClr val="E8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80" y="14630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2A44"/>
                </a:solidFill>
                <a:latin typeface="Microsoft YaHei"/>
                <a:ea typeface="Microsoft YaHei"/>
              </a:rPr>
              <a:t>③ PPT 更新策略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80" y="1783080"/>
            <a:ext cx="347472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Microsoft YaHei"/>
                <a:ea typeface="Microsoft YaHei"/>
              </a:rPr>
              <a:t>• 保留原评审叙事与指标
• 封面升级为补充更新版
• 新增模块目录页
• 新增流程 / 数据流分组页
• 评审确认页同步刷新
交付物：本 PPTX + Markdown
索引（可对照抽检）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</a:rPr>
              <a:t>14 功能模块目录（对齐原 PPT「需求基线」）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6B73"/>
                </a:solidFill>
                <a:latin typeface="Microsoft YaHei"/>
                <a:ea typeface="Microsoft YaHei"/>
              </a:rPr>
              <a:t>三端一底座拆分，后续流程图 / 数据流按此编号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0196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Microsoft YaHei"/>
                <a:ea typeface="Microsoft YaHei"/>
              </a:rPr>
              <a:t>SSO 统一登录认证中心 · LEC-54 补充更新 · 流程图 / 数据流转图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463040"/>
            <a:ext cx="1508760" cy="1645920"/>
          </a:xfrm>
          <a:prstGeom prst="round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M01
统一登录门户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11680" y="1463040"/>
            <a:ext cx="1508760" cy="1645920"/>
          </a:xfrm>
          <a:prstGeom prst="round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M02
飞书免登与同步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1463040"/>
            <a:ext cx="1508760" cy="1645920"/>
          </a:xfrm>
          <a:prstGeom prst="round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M03
MFA/强制改密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0" y="1463040"/>
            <a:ext cx="1508760" cy="1645920"/>
          </a:xfrm>
          <a:prstGeom prst="round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M04
员工工作台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0" y="1463040"/>
            <a:ext cx="1508760" cy="1645920"/>
          </a:xfrm>
          <a:prstGeom prst="round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M05
个人中心/会话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95360" y="1463040"/>
            <a:ext cx="1508760" cy="1645920"/>
          </a:xfrm>
          <a:prstGeom prst="round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M06
工单中心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41280" y="1463040"/>
            <a:ext cx="1508760" cy="1645920"/>
          </a:xfrm>
          <a:prstGeom prst="round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M07
应用创建审核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3657600"/>
            <a:ext cx="1508760" cy="1645920"/>
          </a:xfrm>
          <a:prstGeom prst="round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M08
双Key凭证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11680" y="3657600"/>
            <a:ext cx="1508760" cy="1645920"/>
          </a:xfrm>
          <a:prstGeom prst="round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M09
Skill对接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0" y="3657600"/>
            <a:ext cx="1508760" cy="1645920"/>
          </a:xfrm>
          <a:prstGeom prst="round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M10
外部人员生命周期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03520" y="3657600"/>
            <a:ext cx="1508760" cy="1645920"/>
          </a:xfrm>
          <a:prstGeom prst="round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M11
审批引擎路由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0" y="3657600"/>
            <a:ext cx="1508760" cy="1645920"/>
          </a:xfrm>
          <a:prstGeom prst="round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M12
授权角色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95360" y="3657600"/>
            <a:ext cx="1508760" cy="1645920"/>
          </a:xfrm>
          <a:prstGeom prst="round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M13
全局会话/SLO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241280" y="3657600"/>
            <a:ext cx="1508760" cy="1645920"/>
          </a:xfrm>
          <a:prstGeom prst="round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M14
审计与策略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</a:rPr>
              <a:t>原评审结论保留：为什么做 + 三端一底座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6B73"/>
                </a:solidFill>
                <a:latin typeface="Microsoft YaHei"/>
                <a:ea typeface="Microsoft YaHei"/>
              </a:rPr>
              <a:t>来自附件原文，补充更新不改结论，只加图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0196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Microsoft YaHei"/>
                <a:ea typeface="Microsoft YaHei"/>
              </a:rPr>
              <a:t>SSO 统一登录认证中心 · LEC-54 补充更新 · 流程图 / 数据流转图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371600"/>
            <a:ext cx="5669280" cy="4754880"/>
          </a:xfrm>
          <a:prstGeom prst="roundRect">
            <a:avLst/>
          </a:prstGeom>
          <a:solidFill>
            <a:srgbClr val="E8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6304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2A44"/>
                </a:solidFill>
                <a:latin typeface="Microsoft YaHei"/>
                <a:ea typeface="Microsoft YaHei"/>
              </a:rPr>
              <a:t>四类痛点 → 建设目标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83080"/>
            <a:ext cx="539496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Microsoft YaHei"/>
                <a:ea typeface="Microsoft YaHei"/>
              </a:rPr>
              <a:t>1. 账号分散：约 100 系统各自账密
2. 回收不及时：离职/外部缺统一回收
3. 接入成本高：对接以周计
4. 外部无管控：长期有效无人复核
目标：统一身份 · 统一认证 · 统一授权入口 · 统一审计
一次登录、全局通行；新系统接入 ≤ 1 人日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371600"/>
            <a:ext cx="5394960" cy="4754880"/>
          </a:xfrm>
          <a:prstGeom prst="roundRect">
            <a:avLst/>
          </a:prstGeom>
          <a:solidFill>
            <a:srgbClr val="F8E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4630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2A44"/>
                </a:solidFill>
                <a:latin typeface="Microsoft YaHei"/>
                <a:ea typeface="Microsoft YaHei"/>
              </a:rPr>
              <a:t>三端一底座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783080"/>
            <a:ext cx="512064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Microsoft YaHei"/>
                <a:ea typeface="Microsoft YaHei"/>
              </a:rPr>
              <a:t>门户：飞书免登 / 扫码 / 账密 + MFA
员工端：宫格、个人中心、工单、Skill
管理端：用户生命周期、应用审核、
        授权角色、审批、策略审计
底座：CAS 2.0/3.0 · OAuth2(PKCE) · OIDC
      全局会话/SLO · OpenAPI · Webhook
身份源：飞书全量+增量 + 自建外部用户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</a:rPr>
              <a:t>功能流程图 · M01/M03/M13 登录门户与无感续登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6B73"/>
                </a:solidFill>
                <a:latin typeface="Microsoft YaHei"/>
                <a:ea typeface="Microsoft YaHei"/>
              </a:rPr>
              <a:t>用户侧主路径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0196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Microsoft YaHei"/>
                <a:ea typeface="Microsoft YaHei"/>
              </a:rPr>
              <a:t>SSO 统一登录认证中心 · LEC-54 补充更新 · 流程图 / 数据流转图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2344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45C26"/>
                </a:solidFill>
                <a:latin typeface="Microsoft YaHei"/>
                <a:ea typeface="Microsoft YaHei"/>
              </a:rPr>
              <a:t>A. 首次登录 / MFA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600200"/>
            <a:ext cx="1828800" cy="640080"/>
          </a:xfrm>
          <a:prstGeom prst="round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访问门户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212848" y="1837944"/>
            <a:ext cx="256032" cy="164592"/>
          </a:xfrm>
          <a:prstGeom prst="rightArrow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487168" y="1600200"/>
            <a:ext cx="1828800" cy="640080"/>
          </a:xfrm>
          <a:prstGeom prst="round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飞书免登/
账密/扫码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334256" y="1837944"/>
            <a:ext cx="256032" cy="164592"/>
          </a:xfrm>
          <a:prstGeom prst="rightArrow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08576" y="1600200"/>
            <a:ext cx="1828800" cy="640080"/>
          </a:xfrm>
          <a:prstGeom prst="round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MFA 挑战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455664" y="1837944"/>
            <a:ext cx="256032" cy="164592"/>
          </a:xfrm>
          <a:prstGeom prst="rightArrow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729984" y="1600200"/>
            <a:ext cx="1828800" cy="640080"/>
          </a:xfrm>
          <a:prstGeom prst="round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建全局会话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577072" y="1837944"/>
            <a:ext cx="256032" cy="164592"/>
          </a:xfrm>
          <a:prstGeom prst="rightArrow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851392" y="1600200"/>
            <a:ext cx="1828800" cy="640080"/>
          </a:xfrm>
          <a:prstGeom prst="round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回跳业务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2514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45C26"/>
                </a:solidFill>
                <a:latin typeface="Microsoft YaHei"/>
                <a:ea typeface="Microsoft YaHei"/>
              </a:rPr>
              <a:t>B. 子系统会话失效 → 无感续登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2880360"/>
            <a:ext cx="1828800" cy="640080"/>
          </a:xfrm>
          <a:prstGeom prst="round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子系统 302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2212848" y="3118104"/>
            <a:ext cx="256032" cy="164592"/>
          </a:xfrm>
          <a:prstGeom prst="rightArrow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487168" y="2880360"/>
            <a:ext cx="1828800" cy="640080"/>
          </a:xfrm>
          <a:prstGeom prst="round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认证中心校验
全局会话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4334256" y="3118104"/>
            <a:ext cx="256032" cy="164592"/>
          </a:xfrm>
          <a:prstGeom prst="rightArrow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608576" y="2880360"/>
            <a:ext cx="1828800" cy="640080"/>
          </a:xfrm>
          <a:prstGeom prst="round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有效：发票据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6455664" y="3118104"/>
            <a:ext cx="256032" cy="164592"/>
          </a:xfrm>
          <a:prstGeom prst="rightArrow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29984" y="2880360"/>
            <a:ext cx="1828800" cy="640080"/>
          </a:xfrm>
          <a:prstGeom prst="round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无效：重登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8577072" y="3118104"/>
            <a:ext cx="256032" cy="164592"/>
          </a:xfrm>
          <a:prstGeom prst="rightArrow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851392" y="2880360"/>
            <a:ext cx="1828800" cy="640080"/>
          </a:xfrm>
          <a:prstGeom prst="round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回跳零感知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3794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45C26"/>
                </a:solidFill>
                <a:latin typeface="Microsoft YaHei"/>
                <a:ea typeface="Microsoft YaHei"/>
              </a:rPr>
              <a:t>C. 单点登出 SLO / 管理员踢人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" y="4160520"/>
            <a:ext cx="1828800" cy="640080"/>
          </a:xfrm>
          <a:prstGeom prst="roundRect">
            <a:avLst/>
          </a:prstGeom>
          <a:solidFill>
            <a:srgbClr val="2F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发起登出/
踢人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2212848" y="4398264"/>
            <a:ext cx="256032" cy="164592"/>
          </a:xfrm>
          <a:prstGeom prst="rightArrow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487168" y="4160520"/>
            <a:ext cx="1828800" cy="640080"/>
          </a:xfrm>
          <a:prstGeom prst="roundRect">
            <a:avLst/>
          </a:prstGeom>
          <a:solidFill>
            <a:srgbClr val="2F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吊销全局
Session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4334256" y="4398264"/>
            <a:ext cx="256032" cy="164592"/>
          </a:xfrm>
          <a:prstGeom prst="rightArrow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608576" y="4160520"/>
            <a:ext cx="1828800" cy="640080"/>
          </a:xfrm>
          <a:prstGeom prst="roundRect">
            <a:avLst/>
          </a:prstGeom>
          <a:solidFill>
            <a:srgbClr val="2F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通知已注册
应用登出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6455664" y="4398264"/>
            <a:ext cx="256032" cy="164592"/>
          </a:xfrm>
          <a:prstGeom prst="rightArrow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729984" y="4160520"/>
            <a:ext cx="1828800" cy="640080"/>
          </a:xfrm>
          <a:prstGeom prst="roundRect">
            <a:avLst/>
          </a:prstGeom>
          <a:solidFill>
            <a:srgbClr val="2F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本地会话清
除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8577072" y="4398264"/>
            <a:ext cx="256032" cy="164592"/>
          </a:xfrm>
          <a:prstGeom prst="rightArrow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851392" y="4160520"/>
            <a:ext cx="1828800" cy="640080"/>
          </a:xfrm>
          <a:prstGeom prst="roundRect">
            <a:avLst/>
          </a:prstGeom>
          <a:solidFill>
            <a:srgbClr val="2F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审计落库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5760" y="5120640"/>
            <a:ext cx="11430000" cy="1280160"/>
          </a:xfrm>
          <a:prstGeom prst="roundRect">
            <a:avLst/>
          </a:prstGeom>
          <a:solidFill>
            <a:srgbClr val="E8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5212079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2A44"/>
                </a:solidFill>
                <a:latin typeface="Microsoft YaHei"/>
                <a:ea typeface="Microsoft YaHei"/>
              </a:rPr>
              <a:t>验收要点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5532120"/>
            <a:ext cx="11155680" cy="77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Microsoft YaHei"/>
                <a:ea typeface="Microsoft YaHei"/>
              </a:rPr>
              <a:t>• 仅授权码 + PKCE；禁隐式/密码模式；state 防 CSRF；回调白名单
• 全局 12h / 闲置 10h；用户可远程下线会话；管理员一键踢人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</a:rPr>
              <a:t>功能流程图 · M02 飞书身份同步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6B73"/>
                </a:solidFill>
                <a:latin typeface="Microsoft YaHei"/>
                <a:ea typeface="Microsoft YaHei"/>
              </a:rPr>
              <a:t>全量 + 事件增量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0196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Microsoft YaHei"/>
                <a:ea typeface="Microsoft YaHei"/>
              </a:rPr>
              <a:t>SSO 统一登录认证中心 · LEC-54 补充更新 · 流程图 / 数据流转图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463040"/>
            <a:ext cx="1828800" cy="640080"/>
          </a:xfrm>
          <a:prstGeom prst="round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定时全量
拉取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212848" y="1700784"/>
            <a:ext cx="256032" cy="164592"/>
          </a:xfrm>
          <a:prstGeom prst="rightArrow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487168" y="1463040"/>
            <a:ext cx="1828800" cy="640080"/>
          </a:xfrm>
          <a:prstGeom prst="round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字段映射
itcode/手机/OA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334256" y="1700784"/>
            <a:ext cx="256032" cy="164592"/>
          </a:xfrm>
          <a:prstGeom prst="rightArrow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608576" y="1463040"/>
            <a:ext cx="1828800" cy="640080"/>
          </a:xfrm>
          <a:prstGeom prst="round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账号归并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455664" y="1700784"/>
            <a:ext cx="256032" cy="164592"/>
          </a:xfrm>
          <a:prstGeom prst="rightArrow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729984" y="1463040"/>
            <a:ext cx="1828800" cy="640080"/>
          </a:xfrm>
          <a:prstGeom prst="round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写用户中心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577072" y="1700784"/>
            <a:ext cx="256032" cy="164592"/>
          </a:xfrm>
          <a:prstGeom prst="rightArrow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851392" y="1463040"/>
            <a:ext cx="1828800" cy="640080"/>
          </a:xfrm>
          <a:prstGeom prst="round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变更事件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24688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45C26"/>
                </a:solidFill>
                <a:latin typeface="Microsoft YaHei"/>
                <a:ea typeface="Microsoft YaHei"/>
              </a:rPr>
              <a:t>离职事件特殊路径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2880360"/>
            <a:ext cx="1828800" cy="640080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飞书离职
事件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2212848" y="3118104"/>
            <a:ext cx="256032" cy="164592"/>
          </a:xfrm>
          <a:prstGeom prst="rightArrow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487168" y="2880360"/>
            <a:ext cx="1828800" cy="640080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禁用账号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4334256" y="3118104"/>
            <a:ext cx="256032" cy="164592"/>
          </a:xfrm>
          <a:prstGeom prst="rightArrow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608576" y="2880360"/>
            <a:ext cx="1828800" cy="640080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踢全局会话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6455664" y="3118104"/>
            <a:ext cx="256032" cy="164592"/>
          </a:xfrm>
          <a:prstGeom prst="rightArrow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729984" y="2880360"/>
            <a:ext cx="1828800" cy="640080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名下资产
强制转交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577072" y="3118104"/>
            <a:ext cx="256032" cy="164592"/>
          </a:xfrm>
          <a:prstGeom prst="rightArrow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851392" y="2880360"/>
            <a:ext cx="1828800" cy="640080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审计+通知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3931920"/>
            <a:ext cx="5486400" cy="2286000"/>
          </a:xfrm>
          <a:prstGeom prst="roundRect">
            <a:avLst/>
          </a:prstGeom>
          <a:solidFill>
            <a:srgbClr val="E8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4023359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2A44"/>
                </a:solidFill>
                <a:latin typeface="Microsoft YaHei"/>
                <a:ea typeface="Microsoft YaHei"/>
              </a:rPr>
              <a:t>降级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4343400"/>
            <a:ext cx="52120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Microsoft YaHei"/>
                <a:ea typeface="Microsoft YaHei"/>
              </a:rPr>
              <a:t>飞书故障：员工兜底密码 + 管理员紧急临时密码通道
认证中心可独立运行，不依赖飞书实时可用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26480" y="3931920"/>
            <a:ext cx="5577840" cy="2286000"/>
          </a:xfrm>
          <a:prstGeom prst="roundRect">
            <a:avLst/>
          </a:prstGeom>
          <a:solidFill>
            <a:srgbClr val="F8E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63640" y="4023359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2A44"/>
                </a:solidFill>
                <a:latin typeface="Microsoft YaHei"/>
                <a:ea typeface="Microsoft YaHei"/>
              </a:rPr>
              <a:t>唯一标识三选一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4343400"/>
            <a:ext cx="53035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Microsoft YaHei"/>
                <a:ea typeface="Microsoft YaHei"/>
              </a:rPr>
              <a:t>itcode / 手机号 / OA 编号
双身份源（飞书员工 + 自建外部）归并规则在用户中心统一托管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</a:rPr>
              <a:t>功能流程图 · M04/M05 员工工作台与个人中心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6B73"/>
                </a:solidFill>
                <a:latin typeface="Microsoft YaHei"/>
                <a:ea typeface="Microsoft YaHei"/>
              </a:rPr>
              <a:t>自助与无感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0196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Microsoft YaHei"/>
                <a:ea typeface="Microsoft YaHei"/>
              </a:rPr>
              <a:t>SSO 统一登录认证中心 · LEC-54 补充更新 · 流程图 / 数据流转图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463040"/>
            <a:ext cx="1828800" cy="640080"/>
          </a:xfrm>
          <a:prstGeom prst="round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进入工作台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212848" y="1700784"/>
            <a:ext cx="256032" cy="164592"/>
          </a:xfrm>
          <a:prstGeom prst="rightArrow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487168" y="1463040"/>
            <a:ext cx="1828800" cy="640080"/>
          </a:xfrm>
          <a:prstGeom prst="round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拉取已授权
应用宫格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334256" y="1700784"/>
            <a:ext cx="256032" cy="164592"/>
          </a:xfrm>
          <a:prstGeom prst="rightArrow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608576" y="1463040"/>
            <a:ext cx="1828800" cy="640080"/>
          </a:xfrm>
          <a:prstGeom prst="round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一键免登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455664" y="1700784"/>
            <a:ext cx="256032" cy="164592"/>
          </a:xfrm>
          <a:prstGeom prst="rightArrow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729984" y="1463040"/>
            <a:ext cx="1828800" cy="640080"/>
          </a:xfrm>
          <a:prstGeom prst="round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子系统建会话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577072" y="1700784"/>
            <a:ext cx="256032" cy="164592"/>
          </a:xfrm>
          <a:prstGeom prst="rightArrow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851392" y="1463040"/>
            <a:ext cx="1828800" cy="640080"/>
          </a:xfrm>
          <a:prstGeom prst="round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待办/通知
聚合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24688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45C26"/>
                </a:solidFill>
                <a:latin typeface="Microsoft YaHei"/>
                <a:ea typeface="Microsoft YaHei"/>
              </a:rPr>
              <a:t>个人中心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2880360"/>
            <a:ext cx="1828800" cy="640080"/>
          </a:xfrm>
          <a:prstGeom prst="round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资料维护
(飞书只读)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2212848" y="3118104"/>
            <a:ext cx="256032" cy="164592"/>
          </a:xfrm>
          <a:prstGeom prst="rightArrow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487168" y="2880360"/>
            <a:ext cx="1828800" cy="640080"/>
          </a:xfrm>
          <a:prstGeom prst="round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兜底密码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4334256" y="3118104"/>
            <a:ext cx="256032" cy="164592"/>
          </a:xfrm>
          <a:prstGeom prst="rightArrow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608576" y="2880360"/>
            <a:ext cx="1828800" cy="640080"/>
          </a:xfrm>
          <a:prstGeom prst="round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会话列表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6455664" y="3118104"/>
            <a:ext cx="256032" cy="164592"/>
          </a:xfrm>
          <a:prstGeom prst="rightArrow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729984" y="2880360"/>
            <a:ext cx="1828800" cy="640080"/>
          </a:xfrm>
          <a:prstGeom prst="round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远程下线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577072" y="3118104"/>
            <a:ext cx="256032" cy="164592"/>
          </a:xfrm>
          <a:prstGeom prst="rightArrow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851392" y="2880360"/>
            <a:ext cx="1828800" cy="640080"/>
          </a:xfrm>
          <a:prstGeom prst="round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外部临期
自助延期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4023360"/>
            <a:ext cx="11430000" cy="2194560"/>
          </a:xfrm>
          <a:prstGeom prst="roundRect">
            <a:avLst/>
          </a:prstGeom>
          <a:solidFill>
            <a:srgbClr val="E8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411480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2A44"/>
                </a:solidFill>
                <a:latin typeface="Microsoft YaHei"/>
                <a:ea typeface="Microsoft YaHei"/>
              </a:rPr>
              <a:t>设计原则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4434840"/>
            <a:ext cx="11155680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Microsoft YaHei"/>
                <a:ea typeface="Microsoft YaHei"/>
              </a:rPr>
              <a:t>• 飞书内免登为主 · 所有账号操作线上自助 · 外部人员全程邮件触达
• 外部人员临期黄条常驻提醒（到期前 7/3/1 天）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</a:rPr>
              <a:t>功能流程图 · M06/M11 工单中心与审批路由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6B73"/>
                </a:solidFill>
                <a:latin typeface="Microsoft YaHei"/>
                <a:ea typeface="Microsoft YaHei"/>
              </a:rPr>
              <a:t>四类工单 + 双渠道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0196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Microsoft YaHei"/>
                <a:ea typeface="Microsoft YaHei"/>
              </a:rPr>
              <a:t>SSO 统一登录认证中心 · LEC-54 补充更新 · 流程图 / 数据流转图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2801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C6B73"/>
                </a:solidFill>
                <a:latin typeface="Microsoft YaHei"/>
                <a:ea typeface="Microsoft YaHei"/>
              </a:rPr>
              <a:t>工单类型：账号开通 / 延期 / 应用接入 / 应用权限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691640"/>
            <a:ext cx="1828800" cy="640080"/>
          </a:xfrm>
          <a:prstGeom prst="round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发起申请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212848" y="1929384"/>
            <a:ext cx="256032" cy="164592"/>
          </a:xfrm>
          <a:prstGeom prst="rightArrow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487168" y="1691640"/>
            <a:ext cx="1828800" cy="640080"/>
          </a:xfrm>
          <a:prstGeom prst="round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模板校验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334256" y="1929384"/>
            <a:ext cx="256032" cy="164592"/>
          </a:xfrm>
          <a:prstGeom prst="rightArrow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08576" y="1691640"/>
            <a:ext cx="1828800" cy="640080"/>
          </a:xfrm>
          <a:prstGeom prst="round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路由审批人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455664" y="1929384"/>
            <a:ext cx="256032" cy="164592"/>
          </a:xfrm>
          <a:prstGeom prst="rightArrow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729984" y="1691640"/>
            <a:ext cx="1828800" cy="640080"/>
          </a:xfrm>
          <a:prstGeom prst="round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内置引擎
或飞书审批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577072" y="1929384"/>
            <a:ext cx="256032" cy="164592"/>
          </a:xfrm>
          <a:prstGeom prst="rightArrow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851392" y="1691640"/>
            <a:ext cx="1828800" cy="640080"/>
          </a:xfrm>
          <a:prstGeom prst="round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结果回写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2743200"/>
            <a:ext cx="3657600" cy="3383280"/>
          </a:xfrm>
          <a:prstGeom prst="roundRect">
            <a:avLst/>
          </a:prstGeom>
          <a:solidFill>
            <a:srgbClr val="E8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8346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2A44"/>
                </a:solidFill>
                <a:latin typeface="Microsoft YaHei"/>
                <a:ea typeface="Microsoft YaHei"/>
              </a:rPr>
              <a:t>开通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154680"/>
            <a:ext cx="338328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Microsoft YaHei"/>
                <a:ea typeface="Microsoft YaHei"/>
              </a:rPr>
              <a:t>sponsor → 一级领导 → 管理员
一级领导取飞书直属上级
模板与审批人规则本系统托管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06240" y="2743200"/>
            <a:ext cx="3657600" cy="3383280"/>
          </a:xfrm>
          <a:prstGeom prst="roundRect">
            <a:avLst/>
          </a:prstGeom>
          <a:solidFill>
            <a:srgbClr val="F8E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43400" y="28346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2A44"/>
                </a:solidFill>
                <a:latin typeface="Microsoft YaHei"/>
                <a:ea typeface="Microsoft YaHei"/>
              </a:rPr>
              <a:t>延期（外部）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3154680"/>
            <a:ext cx="338328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Microsoft YaHei"/>
                <a:ea typeface="Microsoft YaHei"/>
              </a:rPr>
              <a:t>模式 A：改密续期 90 天
模式 B：强制有效期审批
过期即禁登，无例外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2743200"/>
            <a:ext cx="3657600" cy="3383280"/>
          </a:xfrm>
          <a:prstGeom prst="roundRect">
            <a:avLst/>
          </a:prstGeom>
          <a:solidFill>
            <a:srgbClr val="E8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83880" y="28346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2A44"/>
                </a:solidFill>
                <a:latin typeface="Microsoft YaHei"/>
                <a:ea typeface="Microsoft YaHei"/>
              </a:rPr>
              <a:t>渠道等效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80" y="3154680"/>
            <a:ext cx="338328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Microsoft YaHei"/>
                <a:ea typeface="Microsoft YaHei"/>
              </a:rPr>
              <a:t>内置引擎 + 飞书双渠道
按类型路由，结果等效回写
北森/致远 Connector 二期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</a:rPr>
              <a:t>功能流程图 · M07/M08/M09 应用接入 · 双Key · Skill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6B73"/>
                </a:solidFill>
                <a:latin typeface="Microsoft YaHei"/>
                <a:ea typeface="Microsoft YaHei"/>
              </a:rPr>
              <a:t>目标：下载 Skill → 沙箱联调全绿 ≤ 1 人日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0196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Microsoft YaHei"/>
                <a:ea typeface="Microsoft YaHei"/>
              </a:rPr>
              <a:t>SSO 统一登录认证中心 · LEC-54 补充更新 · 流程图 / 数据流转图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463040"/>
            <a:ext cx="1828800" cy="640080"/>
          </a:xfrm>
          <a:prstGeom prst="round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创建应用
协议/回调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212848" y="1700784"/>
            <a:ext cx="256032" cy="164592"/>
          </a:xfrm>
          <a:prstGeom prst="rightArrow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487168" y="1463040"/>
            <a:ext cx="1828800" cy="640080"/>
          </a:xfrm>
          <a:prstGeom prst="round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平台审核
工单流转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334256" y="1700784"/>
            <a:ext cx="256032" cy="164592"/>
          </a:xfrm>
          <a:prstGeom prst="rightArrow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608576" y="1463040"/>
            <a:ext cx="1828800" cy="640080"/>
          </a:xfrm>
          <a:prstGeom prst="round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获取凭证
secret一次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455664" y="1700784"/>
            <a:ext cx="256032" cy="164592"/>
          </a:xfrm>
          <a:prstGeom prst="rightArrow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729984" y="1463040"/>
            <a:ext cx="1828800" cy="640080"/>
          </a:xfrm>
          <a:prstGeom prst="round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下载 Skill
不含凭证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577072" y="1700784"/>
            <a:ext cx="256032" cy="164592"/>
          </a:xfrm>
          <a:prstGeom prst="rightArrow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851392" y="1463040"/>
            <a:ext cx="1828800" cy="640080"/>
          </a:xfrm>
          <a:prstGeom prst="round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AI对接+
沙箱联调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2651760"/>
            <a:ext cx="3657600" cy="3474720"/>
          </a:xfrm>
          <a:prstGeom prst="roundRect">
            <a:avLst/>
          </a:prstGeom>
          <a:solidFill>
            <a:srgbClr val="E8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7432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2A44"/>
                </a:solidFill>
                <a:latin typeface="Microsoft YaHei"/>
                <a:ea typeface="Microsoft YaHei"/>
              </a:rPr>
              <a:t>双 Key 轮换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063240"/>
            <a:ext cx="338328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Microsoft YaHei"/>
                <a:ea typeface="Microsoft YaHei"/>
              </a:rPr>
              <a:t>重置后新 Key 立即生效
旧 Key 保留 6h 宽限并行
可一键应急作废
生产发布零中断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06240" y="2651760"/>
            <a:ext cx="3657600" cy="3474720"/>
          </a:xfrm>
          <a:prstGeom prst="roundRect">
            <a:avLst/>
          </a:prstGeom>
          <a:solidFill>
            <a:srgbClr val="F8E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43400" y="27432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2A44"/>
                </a:solidFill>
                <a:latin typeface="Microsoft YaHei"/>
                <a:ea typeface="Microsoft YaHei"/>
              </a:rPr>
              <a:t>凭证安全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3063240"/>
            <a:ext cx="338328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Microsoft YaHei"/>
                <a:ea typeface="Microsoft YaHei"/>
              </a:rPr>
              <a:t>secret 不可逆哈希存储
仅展示一次
Skill 运行时询问输入
引导环境变量，杜绝进仓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2651760"/>
            <a:ext cx="3657600" cy="3474720"/>
          </a:xfrm>
          <a:prstGeom prst="roundRect">
            <a:avLst/>
          </a:prstGeom>
          <a:solidFill>
            <a:srgbClr val="E8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83880" y="27432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2A44"/>
                </a:solidFill>
                <a:latin typeface="Microsoft YaHei"/>
                <a:ea typeface="Microsoft YaHei"/>
              </a:rPr>
              <a:t>Skill 覆盖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80" y="3063240"/>
            <a:ext cx="338328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Microsoft YaHei"/>
                <a:ea typeface="Microsoft YaHei"/>
              </a:rPr>
              <a:t>Java / PHP / Python / Node
AI 扫描登录模块生成方案
独立 SDK 二期评估
埋点统计中位对接时长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</a:rPr>
              <a:t>功能流程图 · M10 外部人员生命周期（90 天强管控）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6B73"/>
                </a:solidFill>
                <a:latin typeface="Microsoft YaHei"/>
                <a:ea typeface="Microsoft YaHei"/>
              </a:rPr>
              <a:t>过期即禁登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0196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Microsoft YaHei"/>
                <a:ea typeface="Microsoft YaHei"/>
              </a:rPr>
              <a:t>SSO 统一登录认证中心 · LEC-54 补充更新 · 流程图 / 数据流转图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463040"/>
            <a:ext cx="1828800" cy="640080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开通入职
(sponsor)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212848" y="1700784"/>
            <a:ext cx="256032" cy="164592"/>
          </a:xfrm>
          <a:prstGeom prst="rightArrow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487168" y="1463040"/>
            <a:ext cx="1828800" cy="640080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有效期
90天起算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334256" y="1700784"/>
            <a:ext cx="256032" cy="164592"/>
          </a:xfrm>
          <a:prstGeom prst="rightArrow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608576" y="1463040"/>
            <a:ext cx="1828800" cy="640080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临期提醒
7/3/1天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455664" y="1700784"/>
            <a:ext cx="256032" cy="164592"/>
          </a:xfrm>
          <a:prstGeom prst="rightArrow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729984" y="1463040"/>
            <a:ext cx="1828800" cy="640080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续期或
延期审批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577072" y="1700784"/>
            <a:ext cx="256032" cy="164592"/>
          </a:xfrm>
          <a:prstGeom prst="rightArrow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851392" y="1463040"/>
            <a:ext cx="1828800" cy="640080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过期禁登
仅恢复路径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2743200"/>
            <a:ext cx="5486400" cy="3383280"/>
          </a:xfrm>
          <a:prstGeom prst="roundRect">
            <a:avLst/>
          </a:prstGeom>
          <a:solidFill>
            <a:srgbClr val="E8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8346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2A44"/>
                </a:solidFill>
                <a:latin typeface="Microsoft YaHei"/>
                <a:ea typeface="Microsoft YaHei"/>
              </a:rPr>
              <a:t>模式对比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154680"/>
            <a:ext cx="521208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Microsoft YaHei"/>
                <a:ea typeface="Microsoft YaHei"/>
              </a:rPr>
              <a:t>模式 A · 改密续期：改密自动续 90 天；报表单独标识复核
模式 B · 强制有效期：到期必须延期审批（一级领导→管理员）；改密只刷新密码有效期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2743200"/>
            <a:ext cx="5577840" cy="3383280"/>
          </a:xfrm>
          <a:prstGeom prst="roundRect">
            <a:avLst/>
          </a:prstGeom>
          <a:solidFill>
            <a:srgbClr val="F8E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28346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2A44"/>
                </a:solidFill>
                <a:latin typeface="Microsoft YaHei"/>
                <a:ea typeface="Microsoft YaHei"/>
              </a:rPr>
              <a:t>恢复路径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3154680"/>
            <a:ext cx="530352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Microsoft YaHei"/>
                <a:ea typeface="Microsoft YaHei"/>
              </a:rPr>
              <a:t>过期后仅 sponsor 代提工单或管理员恢复
飞书离职：踢会话 + 资产强制转交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</a:rPr>
              <a:t>功能流程图 · M12/M14 授权角色与审计策略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6B73"/>
                </a:solidFill>
                <a:latin typeface="Microsoft YaHei"/>
                <a:ea typeface="Microsoft YaHei"/>
              </a:rPr>
              <a:t>统一授权入口 + 等保设计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0196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Microsoft YaHei"/>
                <a:ea typeface="Microsoft YaHei"/>
              </a:rPr>
              <a:t>SSO 统一登录认证中心 · LEC-54 补充更新 · 流程图 / 数据流转图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463040"/>
            <a:ext cx="1828800" cy="640080"/>
          </a:xfrm>
          <a:prstGeom prst="round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定义角色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212848" y="1700784"/>
            <a:ext cx="256032" cy="164592"/>
          </a:xfrm>
          <a:prstGeom prst="rightArrow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487168" y="1463040"/>
            <a:ext cx="1828800" cy="640080"/>
          </a:xfrm>
          <a:prstGeom prst="round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绑定应用
权限点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334256" y="1700784"/>
            <a:ext cx="256032" cy="164592"/>
          </a:xfrm>
          <a:prstGeom prst="rightArrow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608576" y="1463040"/>
            <a:ext cx="1828800" cy="640080"/>
          </a:xfrm>
          <a:prstGeom prst="round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授权用户/
组织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455664" y="1700784"/>
            <a:ext cx="256032" cy="164592"/>
          </a:xfrm>
          <a:prstGeom prst="rightArrow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729984" y="1463040"/>
            <a:ext cx="1828800" cy="640080"/>
          </a:xfrm>
          <a:prstGeom prst="round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登录签发
claims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577072" y="1700784"/>
            <a:ext cx="256032" cy="164592"/>
          </a:xfrm>
          <a:prstGeom prst="rightArrow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851392" y="1463040"/>
            <a:ext cx="1828800" cy="640080"/>
          </a:xfrm>
          <a:prstGeom prst="round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应用本地
鉴权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2560320"/>
            <a:ext cx="1828800" cy="640080"/>
          </a:xfrm>
          <a:prstGeom prst="roundRect">
            <a:avLst/>
          </a:prstGeom>
          <a:solidFill>
            <a:srgbClr val="2F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关键操作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2212848" y="2798064"/>
            <a:ext cx="256032" cy="164592"/>
          </a:xfrm>
          <a:prstGeom prst="rightArrow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487168" y="2560320"/>
            <a:ext cx="1828800" cy="640080"/>
          </a:xfrm>
          <a:prstGeom prst="roundRect">
            <a:avLst/>
          </a:prstGeom>
          <a:solidFill>
            <a:srgbClr val="2F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事件采集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334256" y="2798064"/>
            <a:ext cx="256032" cy="164592"/>
          </a:xfrm>
          <a:prstGeom prst="rightArrow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608576" y="2560320"/>
            <a:ext cx="1828800" cy="640080"/>
          </a:xfrm>
          <a:prstGeom prst="roundRect">
            <a:avLst/>
          </a:prstGeom>
          <a:solidFill>
            <a:srgbClr val="2F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审计总线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6455664" y="2798064"/>
            <a:ext cx="256032" cy="164592"/>
          </a:xfrm>
          <a:prstGeom prst="rightArrow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729984" y="2560320"/>
            <a:ext cx="1828800" cy="640080"/>
          </a:xfrm>
          <a:prstGeom prst="roundRect">
            <a:avLst/>
          </a:prstGeom>
          <a:solidFill>
            <a:srgbClr val="2F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只增不改
落库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8577072" y="2798064"/>
            <a:ext cx="256032" cy="164592"/>
          </a:xfrm>
          <a:prstGeom prst="rightArrow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851392" y="2560320"/>
            <a:ext cx="1828800" cy="640080"/>
          </a:xfrm>
          <a:prstGeom prst="roundRect">
            <a:avLst/>
          </a:prstGeom>
          <a:solidFill>
            <a:srgbClr val="2F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报表/导出
留存1年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3749039"/>
            <a:ext cx="11430000" cy="2377440"/>
          </a:xfrm>
          <a:prstGeom prst="roundRect">
            <a:avLst/>
          </a:prstGeom>
          <a:solidFill>
            <a:srgbClr val="E8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3840479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2A44"/>
                </a:solidFill>
                <a:latin typeface="Microsoft YaHei"/>
                <a:ea typeface="Microsoft YaHei"/>
              </a:rPr>
              <a:t>安全门禁（原 PPT 保留）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160520"/>
            <a:ext cx="1115568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Microsoft YaHei"/>
                <a:ea typeface="Microsoft YaHei"/>
              </a:rPr>
              <a:t>协议：仅授权码+PKCE；JWKS 轮换；回调白名单
凭证：哈希、历史密码不可重用、防爆破、敏感操作二次验证
会话：12h/闲置10h、SLO、踢人、自助会话管理
合规：个保法最小化收集与脱敏；权限双向报表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</a:rPr>
              <a:t>数据流转图 · 身份主数据（M02/M05/M10）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6B73"/>
                </a:solidFill>
                <a:latin typeface="Microsoft YaHei"/>
                <a:ea typeface="Microsoft YaHei"/>
              </a:rPr>
              <a:t>谁写、谁读、唯一真相源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0196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Microsoft YaHei"/>
                <a:ea typeface="Microsoft YaHei"/>
              </a:rPr>
              <a:t>SSO 统一登录认证中心 · LEC-54 补充更新 · 流程图 / 数据流转图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1828800" cy="1005840"/>
          </a:xfrm>
          <a:prstGeom prst="round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飞书通讯录
+ 事件订阅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17520" y="1828800"/>
            <a:ext cx="1828800" cy="1005840"/>
          </a:xfrm>
          <a:prstGeom prst="round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同步服务
映射/归并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7840" y="1828800"/>
            <a:ext cx="1828800" cy="1005840"/>
          </a:xfrm>
          <a:prstGeom prst="roundRect">
            <a:avLst/>
          </a:prstGeom>
          <a:solidFill>
            <a:srgbClr val="2F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用户中心 DB
(主数据)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828800"/>
            <a:ext cx="1828800" cy="1005840"/>
          </a:xfrm>
          <a:prstGeom prst="round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门户/员工端
只读展示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1828800"/>
            <a:ext cx="1828800" cy="1005840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外部用户
自建表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331720" y="2194560"/>
            <a:ext cx="256032" cy="164592"/>
          </a:xfrm>
          <a:prstGeom prst="rightArrow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4892040" y="2194560"/>
            <a:ext cx="256032" cy="164592"/>
          </a:xfrm>
          <a:prstGeom prst="rightArrow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7452360" y="2194560"/>
            <a:ext cx="256032" cy="164592"/>
          </a:xfrm>
          <a:prstGeom prst="rightArrow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own Arrow 14"/>
          <p:cNvSpPr/>
          <p:nvPr/>
        </p:nvSpPr>
        <p:spPr>
          <a:xfrm>
            <a:off x="6400800" y="2926080"/>
            <a:ext cx="164592" cy="228600"/>
          </a:xfrm>
          <a:prstGeom prst="downArrow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29200" y="3291840"/>
            <a:ext cx="2926080" cy="822960"/>
          </a:xfrm>
          <a:prstGeom prst="roundRect">
            <a:avLst/>
          </a:prstGeom>
          <a:solidFill>
            <a:srgbClr val="4A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审计事件 / 离职联动踢会话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4389120"/>
            <a:ext cx="11430000" cy="1828800"/>
          </a:xfrm>
          <a:prstGeom prst="roundRect">
            <a:avLst/>
          </a:prstGeom>
          <a:solidFill>
            <a:srgbClr val="E8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480559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2A44"/>
                </a:solidFill>
                <a:latin typeface="Microsoft YaHei"/>
                <a:ea typeface="Microsoft YaHei"/>
              </a:rPr>
              <a:t>数据契约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800600"/>
            <a:ext cx="111556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Microsoft YaHei"/>
                <a:ea typeface="Microsoft YaHei"/>
              </a:rPr>
              <a:t>• 飞书字段员工侧只读；外部用户字段可自助维护
• 唯一标识：itcode / 手机号 / OA 编号 三选一，冲突走归并规则
• 写路径：同步服务 + 工单回写；读路径：门户/管理端/OpenAPI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</a:rPr>
              <a:t>数据流转图 · 认证票据与会话（M01/M03/M13）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6B73"/>
                </a:solidFill>
                <a:latin typeface="Microsoft YaHei"/>
                <a:ea typeface="Microsoft YaHei"/>
              </a:rPr>
              <a:t>业务不存密码；全局会话与子系统会话分离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0196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Microsoft YaHei"/>
                <a:ea typeface="Microsoft YaHei"/>
              </a:rPr>
              <a:t>SSO 统一登录认证中心 · LEC-54 补充更新 · 流程图 / 数据流转图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554480"/>
            <a:ext cx="1828800" cy="640080"/>
          </a:xfrm>
          <a:prstGeom prst="round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浏览器/
客户端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212848" y="1792223"/>
            <a:ext cx="256032" cy="164592"/>
          </a:xfrm>
          <a:prstGeom prst="rightArrow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487168" y="1554480"/>
            <a:ext cx="1828800" cy="640080"/>
          </a:xfrm>
          <a:prstGeom prst="round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登录门户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334256" y="1792223"/>
            <a:ext cx="256032" cy="164592"/>
          </a:xfrm>
          <a:prstGeom prst="rightArrow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608576" y="1554480"/>
            <a:ext cx="1828800" cy="640080"/>
          </a:xfrm>
          <a:prstGeom prst="round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认证内核
CAS/OIDC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455664" y="1792223"/>
            <a:ext cx="256032" cy="164592"/>
          </a:xfrm>
          <a:prstGeom prst="rightArrow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729984" y="1554480"/>
            <a:ext cx="1828800" cy="640080"/>
          </a:xfrm>
          <a:prstGeom prst="round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全局Session
Store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577072" y="1792223"/>
            <a:ext cx="256032" cy="164592"/>
          </a:xfrm>
          <a:prstGeom prst="rightArrow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851392" y="1554480"/>
            <a:ext cx="1828800" cy="640080"/>
          </a:xfrm>
          <a:prstGeom prst="round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业务应用
本地会话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2743200"/>
            <a:ext cx="3657600" cy="3383280"/>
          </a:xfrm>
          <a:prstGeom prst="roundRect">
            <a:avLst/>
          </a:prstGeom>
          <a:solidFill>
            <a:srgbClr val="E8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8346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2A44"/>
                </a:solidFill>
                <a:latin typeface="Microsoft YaHei"/>
                <a:ea typeface="Microsoft YaHei"/>
              </a:rPr>
              <a:t>流入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154680"/>
            <a:ext cx="338328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Microsoft YaHei"/>
                <a:ea typeface="Microsoft YaHei"/>
              </a:rPr>
              <a:t>账密/免登凭证 → 仅认证内核校验
授权码 + PKCE → token/id_token
CAS Service Ticket / OIDC code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06240" y="2743200"/>
            <a:ext cx="3657600" cy="3383280"/>
          </a:xfrm>
          <a:prstGeom prst="roundRect">
            <a:avLst/>
          </a:prstGeom>
          <a:solidFill>
            <a:srgbClr val="F8E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43400" y="28346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2A44"/>
                </a:solidFill>
                <a:latin typeface="Microsoft YaHei"/>
                <a:ea typeface="Microsoft YaHei"/>
              </a:rPr>
              <a:t>流出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3154680"/>
            <a:ext cx="338328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Microsoft YaHei"/>
                <a:ea typeface="Microsoft YaHei"/>
              </a:rPr>
              <a:t>回跳携带一次性票据
JWKS 验签公钥轮换发布
SLO 登出通知到已注册端点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2743200"/>
            <a:ext cx="3657600" cy="3383280"/>
          </a:xfrm>
          <a:prstGeom prst="roundRect">
            <a:avLst/>
          </a:prstGeom>
          <a:solidFill>
            <a:srgbClr val="E8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83880" y="28346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2A44"/>
                </a:solidFill>
                <a:latin typeface="Microsoft YaHei"/>
                <a:ea typeface="Microsoft YaHei"/>
              </a:rPr>
              <a:t>存储边界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80" y="3154680"/>
            <a:ext cx="338328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Microsoft YaHei"/>
                <a:ea typeface="Microsoft YaHei"/>
              </a:rPr>
              <a:t>密码/secret：不可逆哈希
全局会话：中心存储
业务会话：应用本地，可被踢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</a:rPr>
              <a:t>数据流转图 · 应用凭证与授权（M07/M08/M12）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6B73"/>
                </a:solidFill>
                <a:latin typeface="Microsoft YaHei"/>
                <a:ea typeface="Microsoft YaHei"/>
              </a:rPr>
              <a:t>secret 一次展示；授权矩阵驱动 claims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0196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Microsoft YaHei"/>
                <a:ea typeface="Microsoft YaHei"/>
              </a:rPr>
              <a:t>SSO 统一登录认证中心 · LEC-54 补充更新 · 流程图 / 数据流转图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463040"/>
            <a:ext cx="1828800" cy="640080"/>
          </a:xfrm>
          <a:prstGeom prst="round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应用注册
表单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212848" y="1700784"/>
            <a:ext cx="256032" cy="164592"/>
          </a:xfrm>
          <a:prstGeom prst="rightArrow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487168" y="1463040"/>
            <a:ext cx="1828800" cy="640080"/>
          </a:xfrm>
          <a:prstGeom prst="round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审核工单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334256" y="1700784"/>
            <a:ext cx="256032" cy="164592"/>
          </a:xfrm>
          <a:prstGeom prst="rightArrow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608576" y="1463040"/>
            <a:ext cx="1828800" cy="640080"/>
          </a:xfrm>
          <a:prstGeom prst="round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凭证服务
生成Key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455664" y="1700784"/>
            <a:ext cx="256032" cy="164592"/>
          </a:xfrm>
          <a:prstGeom prst="rightArrow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729984" y="1463040"/>
            <a:ext cx="1828800" cy="640080"/>
          </a:xfrm>
          <a:prstGeom prst="round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哈希入库
明文仅一次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577072" y="1700784"/>
            <a:ext cx="256032" cy="164592"/>
          </a:xfrm>
          <a:prstGeom prst="rightArrow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851392" y="1463040"/>
            <a:ext cx="1828800" cy="640080"/>
          </a:xfrm>
          <a:prstGeom prst="round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开发者本地
环境变量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2651760"/>
            <a:ext cx="1828800" cy="640080"/>
          </a:xfrm>
          <a:prstGeom prst="round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角色定义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2212848" y="2889504"/>
            <a:ext cx="256032" cy="164592"/>
          </a:xfrm>
          <a:prstGeom prst="rightArrow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487168" y="2651760"/>
            <a:ext cx="1828800" cy="640080"/>
          </a:xfrm>
          <a:prstGeom prst="round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应用权限点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334256" y="2889504"/>
            <a:ext cx="256032" cy="164592"/>
          </a:xfrm>
          <a:prstGeom prst="rightArrow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608576" y="2651760"/>
            <a:ext cx="1828800" cy="640080"/>
          </a:xfrm>
          <a:prstGeom prst="round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用户授权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6455664" y="2889504"/>
            <a:ext cx="256032" cy="164592"/>
          </a:xfrm>
          <a:prstGeom prst="rightArrow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729984" y="2651760"/>
            <a:ext cx="1828800" cy="640080"/>
          </a:xfrm>
          <a:prstGeom prst="round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登录签发
roles/scopes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8577072" y="2889504"/>
            <a:ext cx="256032" cy="164592"/>
          </a:xfrm>
          <a:prstGeom prst="rightArrow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851392" y="2651760"/>
            <a:ext cx="1828800" cy="640080"/>
          </a:xfrm>
          <a:prstGeom prst="round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应用鉴权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3931920"/>
            <a:ext cx="11430000" cy="2194560"/>
          </a:xfrm>
          <a:prstGeom prst="roundRect">
            <a:avLst/>
          </a:prstGeom>
          <a:solidFill>
            <a:srgbClr val="E8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023359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2A44"/>
                </a:solidFill>
                <a:latin typeface="Microsoft YaHei"/>
                <a:ea typeface="Microsoft YaHei"/>
              </a:rPr>
              <a:t>关键约束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343400"/>
            <a:ext cx="11155680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Microsoft YaHei"/>
                <a:ea typeface="Microsoft YaHei"/>
              </a:rPr>
              <a:t>• 双 Key：新 Key 即时生效，旧 Key 6h 宽限；应急作废立即双失效
• Skill 包不含 secret；运行时询问并引导 env
• 回调域名白名单防开放重定向；client 元数据经审核后生效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</a:rPr>
              <a:t>数据流转图 · 工单 / 审批 / 审计（M06/M11/M14）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6B73"/>
                </a:solidFill>
                <a:latin typeface="Microsoft YaHei"/>
                <a:ea typeface="Microsoft YaHei"/>
              </a:rPr>
              <a:t>渠道结果等效回写；审计只增不改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0196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Microsoft YaHei"/>
                <a:ea typeface="Microsoft YaHei"/>
              </a:rPr>
              <a:t>SSO 统一登录认证中心 · LEC-54 补充更新 · 流程图 / 数据流转图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1828800" cy="1097280"/>
          </a:xfrm>
          <a:prstGeom prst="round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工单申请
(员工/sponsor)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1463040"/>
            <a:ext cx="1828800" cy="1097280"/>
          </a:xfrm>
          <a:prstGeom prst="round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审批路由
引擎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94960" y="1463040"/>
            <a:ext cx="1828800" cy="1097280"/>
          </a:xfrm>
          <a:prstGeom prst="round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内置审批
或飞书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1463040"/>
            <a:ext cx="1828800" cy="1097280"/>
          </a:xfrm>
          <a:prstGeom prst="round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结果回写
用户/应用状态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149840" y="1463040"/>
            <a:ext cx="1828800" cy="1097280"/>
          </a:xfrm>
          <a:prstGeom prst="round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通知邮件
/IM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331720" y="1874519"/>
            <a:ext cx="256032" cy="164592"/>
          </a:xfrm>
          <a:prstGeom prst="rightArrow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4800600" y="1874519"/>
            <a:ext cx="256032" cy="164592"/>
          </a:xfrm>
          <a:prstGeom prst="rightArrow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7269480" y="1874519"/>
            <a:ext cx="256032" cy="164592"/>
          </a:xfrm>
          <a:prstGeom prst="rightArrow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ight Arrow 14"/>
          <p:cNvSpPr/>
          <p:nvPr/>
        </p:nvSpPr>
        <p:spPr>
          <a:xfrm>
            <a:off x="9738360" y="1874519"/>
            <a:ext cx="256032" cy="164592"/>
          </a:xfrm>
          <a:prstGeom prst="rightArrow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own Arrow 15"/>
          <p:cNvSpPr/>
          <p:nvPr/>
        </p:nvSpPr>
        <p:spPr>
          <a:xfrm>
            <a:off x="6126480" y="2697480"/>
            <a:ext cx="164592" cy="228600"/>
          </a:xfrm>
          <a:prstGeom prst="downArrow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114800" y="3063240"/>
            <a:ext cx="4114800" cy="777240"/>
          </a:xfrm>
          <a:prstGeom prst="roundRect">
            <a:avLst/>
          </a:prstGeom>
          <a:solidFill>
            <a:srgbClr val="2F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审计总线 ← 全链路埋点（只增不改，留存 1 年）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4114800"/>
            <a:ext cx="11430000" cy="2103120"/>
          </a:xfrm>
          <a:prstGeom prst="roundRect">
            <a:avLst/>
          </a:prstGeom>
          <a:solidFill>
            <a:srgbClr val="E8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20624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2A44"/>
                </a:solidFill>
                <a:latin typeface="Microsoft YaHei"/>
                <a:ea typeface="Microsoft YaHei"/>
              </a:rPr>
              <a:t>数据落点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526280"/>
            <a:ext cx="11155680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Microsoft YaHei"/>
                <a:ea typeface="Microsoft YaHei"/>
              </a:rPr>
              <a:t>• 工单库：状态机 + 审批轨迹
• 用户/应用状态：审批通过后事务写回
• 审计库：登录、授权变更、踢人、密钥重置、工单决策
• 出站：Webhook / OpenAPI 查询（只读为主）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</a:rPr>
              <a:t>总览：模块 → 流程图 → 数据流 对照表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6B73"/>
                </a:solidFill>
                <a:latin typeface="Microsoft YaHei"/>
                <a:ea typeface="Microsoft YaHei"/>
              </a:rPr>
              <a:t>便于评审抽检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0196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Microsoft YaHei"/>
                <a:ea typeface="Microsoft YaHei"/>
              </a:rPr>
              <a:t>SSO 统一登录认证中心 · LEC-54 补充更新 · 流程图 / 数据流转图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F2A44"/>
                </a:solidFill>
                <a:latin typeface="Microsoft YaHei"/>
                <a:ea typeface="Microsoft YaHei"/>
              </a:rPr>
              <a:t>M01/M03/M13  登录/MFA/SLO     → 功能流 A/B/C     → 票据与会话数据流
M02/M05/M10  同步/个人/外部   → 飞书同步+生命周期 → 身份主数据流
M04          工作台           → 宫格免登流         → 授权读模型
M06/M11      工单/审批         → 四类工单流         → 工单回写数据流
M07/M08/M09  应用/双Key/Skill → 1人日接入流        → 凭证与哈希数据流
M12/M14      授权/审计         → 角色签发+审计流    → claims / 审计库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</a:rPr>
              <a:t>里程碑与成功指标（原文保留）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6B73"/>
                </a:solidFill>
                <a:latin typeface="Microsoft YaHei"/>
                <a:ea typeface="Microsoft YaHei"/>
              </a:rPr>
              <a:t>补充图不改排期口径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0196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Microsoft YaHei"/>
                <a:ea typeface="Microsoft YaHei"/>
              </a:rPr>
              <a:t>SSO 统一登录认证中心 · LEC-54 补充更新 · 流程图 / 数据流转图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2651760" cy="2194560"/>
          </a:xfrm>
          <a:prstGeom prst="round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M1 基础认证
6~8 周
用户中心+飞书
三协议+SSO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463040"/>
            <a:ext cx="2651760" cy="2194560"/>
          </a:xfrm>
          <a:prstGeom prst="round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M2 应用权限
4~6 周
审核+双Key
角色+OpenAPI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463040"/>
            <a:ext cx="2651760" cy="2194560"/>
          </a:xfrm>
          <a:prstGeom prst="round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M3 生命周期
4~6 周
90天+延期
双渠道审批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35440" y="1463040"/>
            <a:ext cx="2651760" cy="2194560"/>
          </a:xfrm>
          <a:prstGeom prst="round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M4 开发者运营
3~4 周
Skill+文档
看板+SLO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4023360"/>
            <a:ext cx="11430000" cy="2194560"/>
          </a:xfrm>
          <a:prstGeom prst="roundRect">
            <a:avLst/>
          </a:prstGeom>
          <a:solidFill>
            <a:srgbClr val="E8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411480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2A44"/>
                </a:solidFill>
                <a:latin typeface="Microsoft YaHei"/>
                <a:ea typeface="Microsoft YaHei"/>
              </a:rPr>
              <a:t>成功指标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434840"/>
            <a:ext cx="11155680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Microsoft YaHei"/>
                <a:ea typeface="Microsoft YaHei"/>
              </a:rPr>
              <a:t>接入应用 ≥20（3个月） · SSO 成功率 ≥99.9%（连续4周） · 对接 ≤1人日（埋点中位数）
过期可登录 =0 · 工单线上化 100% · 试点与 M2 并行（2~3 技术栈）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</a:rPr>
              <a:t>请评审组确认（补充更新版）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6B73"/>
                </a:solidFill>
                <a:latin typeface="Microsoft YaHei"/>
                <a:ea typeface="Microsoft YaHei"/>
              </a:rPr>
              <a:t>在原 ①②③ 基础上增加流程图 / 数据流确认项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0196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Microsoft YaHei"/>
                <a:ea typeface="Microsoft YaHei"/>
              </a:rPr>
              <a:t>SSO 统一登录认证中心 · LEC-54 补充更新 · 流程图 / 数据流转图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80160"/>
            <a:ext cx="2194560" cy="777240"/>
          </a:xfrm>
          <a:prstGeom prst="round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① 需求基线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1280160"/>
            <a:ext cx="8961120" cy="777240"/>
          </a:xfrm>
          <a:prstGeom prst="roundRect">
            <a:avLst/>
          </a:prstGeom>
          <a:solidFill>
            <a:srgbClr val="E8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0F2A44"/>
                </a:solidFill>
                <a:latin typeface="Microsoft YaHei"/>
                <a:ea typeface="Microsoft YaHei"/>
              </a:rPr>
              <a:t>确认 SRS/PRD V1.1 仍为开发基线：99+9 条、26 项决议、范围冻结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240280"/>
            <a:ext cx="2194560" cy="777240"/>
          </a:xfrm>
          <a:prstGeom prst="round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② 里程碑排期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2240280"/>
            <a:ext cx="8961120" cy="777240"/>
          </a:xfrm>
          <a:prstGeom prst="roundRect">
            <a:avLst/>
          </a:prstGeom>
          <a:solidFill>
            <a:srgbClr val="E8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0F2A44"/>
                </a:solidFill>
                <a:latin typeface="Microsoft YaHei"/>
                <a:ea typeface="Microsoft YaHei"/>
              </a:rPr>
              <a:t>确认 M1~M4 分期与试点策略不变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3200400"/>
            <a:ext cx="2194560" cy="777240"/>
          </a:xfrm>
          <a:prstGeom prst="round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③ 外部依赖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3200400"/>
            <a:ext cx="8961120" cy="777240"/>
          </a:xfrm>
          <a:prstGeom prst="roundRect">
            <a:avLst/>
          </a:prstGeom>
          <a:solidFill>
            <a:srgbClr val="E8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0F2A44"/>
                </a:solidFill>
                <a:latin typeface="Microsoft YaHei"/>
                <a:ea typeface="Microsoft YaHei"/>
              </a:rPr>
              <a:t>立项后一周内验证附录 C 八项依赖（飞书审批 API 最高风险）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4160520"/>
            <a:ext cx="2194560" cy="777240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④ 模块流程图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0" y="4160520"/>
            <a:ext cx="8961120" cy="777240"/>
          </a:xfrm>
          <a:prstGeom prst="roundRect">
            <a:avLst/>
          </a:prstGeom>
          <a:solidFill>
            <a:srgbClr val="E8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0F2A44"/>
                </a:solidFill>
                <a:latin typeface="Microsoft YaHei"/>
                <a:ea typeface="Microsoft YaHei"/>
              </a:rPr>
              <a:t>确认 14 模块功能流程图覆盖主路径与例外路径（离职/过期/踢人）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5120640"/>
            <a:ext cx="2194560" cy="777240"/>
          </a:xfrm>
          <a:prstGeom prst="round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⑤ 数据流转图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0" y="5120640"/>
            <a:ext cx="8961120" cy="777240"/>
          </a:xfrm>
          <a:prstGeom prst="roundRect">
            <a:avLst/>
          </a:prstGeom>
          <a:solidFill>
            <a:srgbClr val="E8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0F2A44"/>
                </a:solidFill>
                <a:latin typeface="Microsoft YaHei"/>
                <a:ea typeface="Microsoft YaHei"/>
              </a:rPr>
              <a:t>确认身份 / 票据会话 / 凭证授权 / 工单审计四类数据边界可验收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