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65" r:id="rId14"/>
    <p:sldId id="266" r:id="rId15"/>
    <p:sldId id="270" r:id="rId16"/>
    <p:sldId id="273" r:id="rId19"/>
    <p:sldId id="271" r:id="rId17"/>
    <p:sldId id="272" r:id="rId18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2"/>
    <p:restoredTop sz="94631"/>
  </p:normalViewPr>
  <p:slideViewPr>
    <p:cSldViewPr snapToGrid="0" snapToObjects="1">
      <p:cViewPr varScale="1">
        <p:scale>
          <a:sx n="149" d="100"/>
          <a:sy n="149" d="100"/>
        </p:scale>
        <p:origin x="4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6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97BC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70408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lecoo 用户中心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80467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C4DCFA"/>
                </a:solidFill>
                <a:latin typeface="PingFang SC"/>
              </a:rPr>
              <a:t>统一登录 · 身份治理 · 账号安全管理与审计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70048"/>
            <a:ext cx="50292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ingFang SC"/>
              </a:rPr>
              <a:t>开发方案与实施路线图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20574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统一身份入口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0574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账号全生命周期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402336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343400"/>
            <a:ext cx="20574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可核查、可闭环、可形成管理层治理报告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80760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</a:rPr>
              <a:t>V1.2｜2026.08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80760"/>
            <a:ext cx="3017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endParaRPr sz="1000" b="0" dirty="0">
              <a:solidFill>
                <a:srgbClr val="C4DCFA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目录｜汇报内容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V1.2 聚焦建设需求、功能目标、核心难点与方案、一期实施及待确认事项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2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000" y="147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建设需求与现状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175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业务需求、系统定位、现状问题与建设必要性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0000" y="156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03–05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4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44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000" y="239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实现目标与功能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267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登录安全、子系统接入、成本权限、待办与团队管理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000" y="248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06–11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6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6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331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核心难点与方案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359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账号归集、线上线下执行、季度账号与成本权限核查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000" y="340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12–17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8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28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0000" y="423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技术实现与一期计划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0000" y="451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技术架构、一期范围与实施路线图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432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18–20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0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20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0000" y="515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风险与待确认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0000" y="543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关键风险、外部依赖与评审决策事项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0000" y="524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本次建设不仅解决怎么登录，更要回答账号属于谁、为何存在、何时关闭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434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一个统一主档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8892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一个自然人建立一个统一身份主档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可下挂多个系统、多个账号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可按责任范围管理其他账号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4983480"/>
            <a:ext cx="283464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" y="5093208"/>
            <a:ext cx="25420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人是主线，账号与权限是资产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2834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两类使用入口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31720"/>
            <a:ext cx="278892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员工入口：登录门户 + 个人中心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管理入口：统一管理后台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4983480"/>
            <a:ext cx="2834640" cy="47548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5093208"/>
            <a:ext cx="25420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认证与治理分层，避免边界失控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4434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三类核心建设结果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78892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账号申请、审批、执行、回执全程留痕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成本权限按责任链定期复核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子系统注册、登录接入及认证有效期统一管理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4983480"/>
            <a:ext cx="283464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5093208"/>
            <a:ext cx="25420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一期接口与人工操作并存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建设需求与现状｜现状问题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基于 2026.4 内审账号资料与既有统一登录方案抽样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057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2C68CD"/>
                </a:solidFill>
                <a:latin typeface="PingFang SC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20574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份异构账号来源文件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2057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97BC"/>
                </a:solidFill>
                <a:latin typeface="PingFang SC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75688"/>
            <a:ext cx="20574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个季度核查系统口径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2057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E28732"/>
                </a:solidFill>
                <a:latin typeface="PingFang SC"/>
              </a:rPr>
              <a:t>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75688"/>
            <a:ext cx="20574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条成本权限记录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2057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C94349"/>
                </a:solidFill>
                <a:latin typeface="PingFang S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75688"/>
            <a:ext cx="20574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套成本权限清单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057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22946B"/>
                </a:solidFill>
                <a:latin typeface="PingFang SC"/>
              </a:rPr>
              <a:t>线上+线下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75688"/>
            <a:ext cx="20574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当前真实执行方式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3383280"/>
            <a:ext cx="114300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字段不一致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50208"/>
            <a:ext cx="2084831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username、姓名、工号、ITcode、手机号、邮箱、OA 编号各自存在，无法依赖单一键。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39312" y="3383280"/>
            <a:ext cx="114300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来源不一致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950208"/>
            <a:ext cx="2084831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员工、外部人员、门店账号、共享账号并存，状态与责任人缺失。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82512" y="3383280"/>
            <a:ext cx="114300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执行不一致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50208"/>
            <a:ext cx="2084831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部分系统可接口停用，部分只能由负责人线下操作并回传证据。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25711" y="3383280"/>
            <a:ext cx="114300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组织责任不统一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3950208"/>
            <a:ext cx="2084831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部门与负责人需支持指定；组织架构从飞书或北森同步，例外规则不再散落 Excel。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3387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943600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结论：先建立“统一身份 + 账号映射 + 责任链”，再逐步提高自动化比例。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建设需求与现状｜系统定位与边界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认证中心解决“你是谁”，治理中心解决“你拥有什么、谁负责、是否合规”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4526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177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模块 A｜统一登录与账号安全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4572000" cy="2697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账号密码、手机/邮箱验证码、图片验证码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MFA：TOTP、短信、邮箱、备用码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飞书、企业微信、北森等联合登录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人脸/指纹采用 WebAuthn 或设备能力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子系统 OIDC 自动登录、会话与登出策略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257800" cy="4526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6177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模块 B｜身份治理与安全审计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31720"/>
            <a:ext cx="4572000" cy="2697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统一用户主档与多系统账号关联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系统准入、认证有效期、账号生命周期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权限快照、成本权限、责任链与复核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开通/变更/关闭待办，线上线下闭环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季度核查、离职销户核验、审计汇报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53328"/>
            <a:ext cx="10716768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6163056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边界原则：业务系统仍负责本地菜单/数据权限实时鉴权；用户中心负责统一身份、准入策略、权限目录与审计。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两个业务模块独立建设，共享统一身份、组织架构和审计底座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76672" cy="418795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模块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572768"/>
            <a:ext cx="3611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统一登录与账号安全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多方式认证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70432" y="3090672"/>
            <a:ext cx="987552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42416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密码 / 验证码
MFA / 生物识别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5768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联合登录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43784" y="3090672"/>
            <a:ext cx="987552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15768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飞书 / 企微 / 北森
外部 IdP 连接器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子系统接入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17136" y="3090672"/>
            <a:ext cx="987552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OIDC / PKCE
会话策略 / SLO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882896"/>
            <a:ext cx="4535424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目标：一次认证，按策略安全访问已授权系统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53312"/>
            <a:ext cx="5376672" cy="418795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模块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72768"/>
            <a:ext cx="3611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身份治理与安全审计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8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账号治理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84264" y="3090672"/>
            <a:ext cx="987552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56248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统一主档 / 账号关联
开通 / 关闭 / 有效期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权限治理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57616" y="3090672"/>
            <a:ext cx="987552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0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权限快照 / 成本权限
责任链 / 定期复核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02952" y="2624328"/>
            <a:ext cx="12435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流程与审计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30968" y="3090672"/>
            <a:ext cx="987552" cy="0"/>
          </a:xfrm>
          <a:prstGeom prst="line">
            <a:avLst/>
          </a:prstGeom>
          <a:ln w="1524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02952" y="3364992"/>
            <a:ext cx="1243584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待办 / 审批 / 回执
季度盘点 / 离职核验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882896"/>
            <a:ext cx="4535424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目标：账号有归属、权限有依据、操作可追溯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733288"/>
            <a:ext cx="9802368" cy="530352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17320" y="5879592"/>
            <a:ext cx="93451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共享底座：统一身份主档  ·  飞书/北森组织架构  ·  部门与负责人配置  ·  审计证据链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实现目标与功能｜登录安全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低风险顺畅通行，高风险触发二次安全验证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L1 登录与密码管理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20574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账号密码 | 密码到期提醒、修改或审批延期 | 手机/邮箱验证码 | 图片验证码与防爆破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86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75887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26771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1D97BC"/>
                </a:solidFill>
                <a:latin typeface="PingFang SC"/>
              </a:rPr>
              <a:t>L2 联合登录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20574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飞书 / 企业微信 / 北森
校验外部 IdP 身份
回到统一身份主档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508760"/>
            <a:ext cx="2468880" cy="29718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190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6771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L3 强认证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16352"/>
            <a:ext cx="20574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TOTP / 短信 / 邮箱
Passkey / WebAuthn
备用码与设备管理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1508760"/>
            <a:ext cx="2468880" cy="297180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622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6771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C94349"/>
                </a:solidFill>
                <a:latin typeface="PingFang SC"/>
              </a:rPr>
              <a:t>L4 敏感操作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16352"/>
            <a:ext cx="20574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查看成本权限
重置凭证 / 导出数据
强制二次认证 + 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960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移动端人脸/指纹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38344"/>
            <a:ext cx="80467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采用设备生物能力解锁 Passkey / 本机会话；生物模板不上传、不在用户中心存储。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实现目标与功能｜子系统接入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建议统一采用 OIDC Authorization Code + PKCE；保留连接器扩展能力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访问子系统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用户发起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跳转用户中心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96312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携带 state/nonce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5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完成认证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96312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按风险触发 MFA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7" y="2084831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签发授权码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496312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短期、一次性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423160"/>
            <a:ext cx="365759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1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建立本地会话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496312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应用自主鉴权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3291840" cy="16002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913632"/>
            <a:ext cx="2788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C68CD"/>
                </a:solidFill>
                <a:latin typeface="PingFang SC"/>
              </a:rPr>
              <a:t>系统级准入策略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89120"/>
            <a:ext cx="278892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全员可登录 / 指定组织 / 指定人员申请
可配置登录认证有效期与强认证等级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3913632"/>
            <a:ext cx="2788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2946B"/>
                </a:solidFill>
                <a:latin typeface="PingFang SC"/>
              </a:rPr>
              <a:t>双层会话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278892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中心 Session 与应用 Session 分离
支持管理员踢人、单点登出和有效期策略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291840" cy="16002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913632"/>
            <a:ext cx="2788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E28732"/>
                </a:solidFill>
                <a:latin typeface="PingFang SC"/>
              </a:rPr>
              <a:t>接入治理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89120"/>
            <a:ext cx="278892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回调白名单、secret 一次展示、轮换
沙箱联调、上线审批、接入审计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实现目标与功能｜成本权限治理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统一管理申请、审批、启用、延期和禁用；业务系统继续负责实时鉴权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4343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权限目录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74320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按用户查看跨系统权限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按系统查看角色与状态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保留每次导入快照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识别新增、删除、异常变化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343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成本权限生命周期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74320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申请：业务用途、目标系统和有效期
• 审批：负责人 → 一级领导 → 财务负责人
• 启用：接口执行或人工待办回执
• 延期/禁用：到期、离职、岗位变化或复核不通过
• 使用：二次安全验证，季度重新确认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43434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汇报责任链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74320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部门与负责人：支持人工指定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组织架构：从飞书或北森同步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一级领导：按组织关系自动推导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财务负责人：配置化维护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汇报结果：保留签收与意见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69848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6099048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当前样本：BIP、来酷 SCM、联想科技 SCM、联酷 SCM 共 181 条成本权限记录。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实现目标与功能｜个人数据与待办流转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邮件可以通知，但不能再作为唯一流程与证据载体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员工 / 外部人员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404872"/>
            <a:ext cx="1453896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715768"/>
            <a:ext cx="1600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发起申请
补充资料
查看进度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783080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直属负责人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2404872"/>
            <a:ext cx="1453897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0088" y="2715768"/>
            <a:ext cx="1600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业务必要性
人员真实性
账号用途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7" y="1508760"/>
            <a:ext cx="1965960" cy="27889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1783080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一级领导 / 财务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59" y="2404872"/>
            <a:ext cx="1453896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21807" y="2715768"/>
            <a:ext cx="1600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敏感权限
跨部门授权
例外确认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488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70648" y="1508760"/>
            <a:ext cx="1965960" cy="27889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07808" y="1783080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系统负责人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2404872"/>
            <a:ext cx="1453897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3527" y="2715768"/>
            <a:ext cx="1600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执行开通/关闭
上传回执
异常说明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3660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02367" y="1508760"/>
            <a:ext cx="1965960" cy="27889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39528" y="1783080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审计 / 管理员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399" y="2404872"/>
            <a:ext cx="1453897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85247" y="2715768"/>
            <a:ext cx="1600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抽检证据
催办升级
生成报告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60"/>
            <a:ext cx="10698480" cy="987552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010912"/>
            <a:ext cx="1143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C94349"/>
                </a:solidFill>
                <a:latin typeface="PingFang SC"/>
              </a:rPr>
              <a:t>隐私控制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74336"/>
            <a:ext cx="8503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字段最小化、分级脱敏、按角色授权、下载水印、导出审批、访问审计、到期删除/匿名化。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4360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6053328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负责人或上级拥有“代办、催办、转交、确认”能力；离职时其名下待办与资产自动转交。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实现目标与功能｜团队账号管理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管理范围来自飞书/北森组织关系及人工指定责任范围，支持单人和批量操作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59152" cy="2240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0299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管理范围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993392" cy="9875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直属人员
下属部门人员
指定代管人员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59152" cy="2240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1691640"/>
            <a:ext cx="20299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账号操作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1993392" cy="9875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新建账号
申请延期
关闭账号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59152" cy="224028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20299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系统准入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1993392" cy="9875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可登录系统
认证有效期
批量授权/回收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359152" cy="22402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62872" y="1691640"/>
            <a:ext cx="20299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控制边界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1993392" cy="9875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说明业务理由
高风险需审批
全量审计留痕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批量操作流程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选择人员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组织/部门/名单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5010912"/>
            <a:ext cx="274320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42032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33472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D97BC"/>
                </a:solidFill>
                <a:latin typeface="PingFang SC"/>
              </a:rPr>
              <a:t>选择操作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开通/延期/关闭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5010912"/>
            <a:ext cx="274320" cy="0"/>
          </a:xfrm>
          <a:prstGeom prst="line">
            <a:avLst/>
          </a:prstGeom>
          <a:ln w="1778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43984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35424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配置策略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系统/角色/有效期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6752" y="5010912"/>
            <a:ext cx="274320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45936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C94349"/>
                </a:solidFill>
                <a:latin typeface="PingFang SC"/>
              </a:rPr>
              <a:t>风险校验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范围/冲突/敏感项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4" y="5010912"/>
            <a:ext cx="274320" cy="0"/>
          </a:xfrm>
          <a:prstGeom prst="line">
            <a:avLst/>
          </a:prstGeom>
          <a:ln w="1778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47888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7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审批执行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API 或线下待办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0656" y="5010912"/>
            <a:ext cx="274320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14984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0" y="4718304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274A"/>
                </a:solidFill>
                <a:latin typeface="PingFang SC"/>
              </a:rPr>
              <a:t>结果回执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111496"/>
            <a:ext cx="13898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成功/失败/证据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94349"/>
                </a:solidFill>
                <a:latin typeface="PingFang SC"/>
              </a:rPr>
              <a:t>成本查看权限不能直接批量授予：负责人发起后，仍需一级领导和财务负责人复核。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核心难点一｜一个自然人存在多个账号，如何准确归集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姓名、手机号、itcode、邮箱都可能缺失、重复或变化，不能直接硬合并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员工主数据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OA / 飞书 / 北森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92808"/>
            <a:ext cx="685800" cy="1014984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651760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系统账号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账号名 / 工号 / 手机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2907792"/>
            <a:ext cx="685800" cy="155448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822191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7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人工证据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1104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负责人确认 / 审批单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71800" y="2907792"/>
            <a:ext cx="685800" cy="132588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1938528"/>
            <a:ext cx="3794760" cy="196596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2221992"/>
            <a:ext cx="31546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2C68CD"/>
                </a:solidFill>
                <a:latin typeface="PingFang SC"/>
              </a:rPr>
              <a:t>解决方案｜身份解析引擎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779776"/>
            <a:ext cx="3154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字段标准化 → 候选召回 → 规则评分
冲突检测 → 自动关联 / 人工确认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907792"/>
            <a:ext cx="777240" cy="0"/>
          </a:xfrm>
          <a:prstGeom prst="line">
            <a:avLst/>
          </a:prstGeom>
          <a:ln w="2540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627632"/>
            <a:ext cx="3200400" cy="2743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883664"/>
            <a:ext cx="2651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946B"/>
                </a:solidFill>
                <a:latin typeface="PingFang SC"/>
              </a:rPr>
              <a:t>方案输出｜统一身份主档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87168"/>
            <a:ext cx="2651760" cy="1353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自然人 Person
↕
多系统 Account
↕
权限快照 / 责任人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8686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7315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30368"/>
            <a:ext cx="90982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仅凭姓名自动合并；覆盖原始来源数据；删除历史映射证据；把共享账号强行归到个人。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解决方案一｜多字段匹配、置信度分级与人工确认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规则可解释，人工确认可回溯，后续逐步引入模型辅助但不替代责任确认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匹配层级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20624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示例字段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59" y="1417320"/>
            <a:ext cx="13716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可信度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22860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默认动作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2"/>
            <a:ext cx="16093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强标识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2084832"/>
            <a:ext cx="398678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OA 员工编号、itcode、HR 人员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920240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76288" y="2084832"/>
            <a:ext cx="11521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2"/>
            <a:ext cx="206654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自动关联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2752344"/>
            <a:ext cx="16093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联系标识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587752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70048" y="2752344"/>
            <a:ext cx="398678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标准化手机号、企业邮箱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2587752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76288" y="2752344"/>
            <a:ext cx="11521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587752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2752344"/>
            <a:ext cx="206654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需检查冲突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55264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419856"/>
            <a:ext cx="16093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组合特征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25526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0048" y="3419856"/>
            <a:ext cx="398678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姓名 + 部门 + 直属上级 / 岗位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59" y="3255264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76288" y="3419856"/>
            <a:ext cx="11521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55264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7888" y="3419856"/>
            <a:ext cx="206654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进入待确认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22776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4087368"/>
            <a:ext cx="16093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弱特征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922776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70048" y="4087368"/>
            <a:ext cx="398678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仅姓名、昵称、门店名称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3922776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76288" y="4087368"/>
            <a:ext cx="115214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22776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4087368"/>
            <a:ext cx="206654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不得自动关联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800600"/>
            <a:ext cx="3200400" cy="9601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2946B"/>
                </a:solidFill>
                <a:latin typeface="PingFang SC"/>
              </a:rPr>
              <a:t>≥ 90 分｜自动关联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800600"/>
            <a:ext cx="3200400" cy="9601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07992" y="512064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E28732"/>
                </a:solidFill>
                <a:latin typeface="PingFang SC"/>
              </a:rPr>
              <a:t>60–89 分｜人工确认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4800600"/>
            <a:ext cx="3611880" cy="96012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0" y="512064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C94349"/>
                </a:solidFill>
                <a:latin typeface="PingFang SC"/>
              </a:rPr>
              <a:t>&lt; 60 分｜保持独立/待调查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96188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7824" y="6071616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每次关联记录：规则版本、命中字段、分值、确认人、确认时间、原始快照。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核心难点二｜部分系统无法自动开通或关闭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接口能力不一、人工结果难验证，离职时还要防止跨系统账号遗漏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触发来源多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申请 / 离职 / 到期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185416"/>
            <a:ext cx="292608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D97BC"/>
                </a:solidFill>
                <a:latin typeface="PingFang SC"/>
              </a:rPr>
              <a:t>审批规则不同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直属 / 一级 / 财务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185416"/>
            <a:ext cx="292609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5968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执行能力不一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有接口 / 无接口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回执格式分散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结果 / 截图 / 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93024" y="1554480"/>
            <a:ext cx="1600200" cy="126187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完成状态难确认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缺少统一复核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93224" y="2185416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31552" y="1554480"/>
            <a:ext cx="1600200" cy="126187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68712" y="181051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74A"/>
                </a:solidFill>
                <a:latin typeface="PingFang SC"/>
              </a:rPr>
              <a:t>跨系统容易遗漏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0424" y="2258568"/>
            <a:ext cx="1362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离职账号未清零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29000"/>
            <a:ext cx="5074920" cy="2057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703320"/>
            <a:ext cx="4480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2C68CD"/>
                </a:solidFill>
                <a:latin typeface="PingFang SC"/>
              </a:rPr>
              <a:t>接口差异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233672"/>
            <a:ext cx="44805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有的系统支持开通和关闭接口
• 有的系统只能查询，不能执行
• 接口失败后的重试方式不统一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429000"/>
            <a:ext cx="5257800" cy="2057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46634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人工执行风险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233672"/>
            <a:ext cx="461772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依赖系统负责人手工操作
• 截图、邮件、单号分散保存
• 逾期后缺少统一催办和升级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核心难点：用户中心发出任务，不等于目标系统已经真正完成账号开通或关闭。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解决方案二｜账号与成本权限统一待办闭环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账号开通、延期、关闭及成本权限申请、启用、延期、禁用，都进入同一处理流程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1. 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 / 负责人 / 人事事件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66543" y="2130552"/>
            <a:ext cx="292609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6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23744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2. 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按账号和权限类型配置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130552"/>
            <a:ext cx="292608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3. 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接口自动或人工待办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4. 回执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结果 / 截图 / 外部单号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5. 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系统负责人或审计确认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20656" y="2130552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77856" y="17830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6. 关闭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221992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状态生效并写入审计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64992"/>
            <a:ext cx="3246120" cy="193852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675887"/>
            <a:ext cx="2697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可接口系统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269748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自动执行账号开通/关闭、成本权限启用/禁用
失败重试并转人工待办
回写执行结果和外部单号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3364992"/>
            <a:ext cx="3246120" cy="193852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3675887"/>
            <a:ext cx="2697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不可接口系统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224528"/>
            <a:ext cx="269748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派发给系统负责人
设置处理时限和超时提醒
上传截图、导出结果或邮件回执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364992"/>
            <a:ext cx="3246120" cy="193852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3675887"/>
            <a:ext cx="2697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2946B"/>
                </a:solidFill>
                <a:latin typeface="PingFang SC"/>
              </a:rPr>
              <a:t>到期与人员变更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224528"/>
            <a:ext cx="269748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密码或账号到期触发提醒
离职、岗位变化触发关闭或禁用
未完成任务持续催办升级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5961888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方案结果：每个账号和成本权限任务都有负责人、处理状态、完成时限和可复核证据。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核心难点三｜季度账号与成本权限如何完成全量核查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涉及全体用户、多个系统和多级责任人，依靠 Excel 与邮件难以持续完成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37744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核查范围大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全体用户 / 多系统账号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214884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数据口径不一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本期 / 上期 / 在职名单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15468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333756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确认责任链长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1246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本人 / 负责人 / 财务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71600"/>
            <a:ext cx="214884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15544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成本权限需加签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938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一级领导与财务确认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54680"/>
            <a:ext cx="214884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333756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整改执行分散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71246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接口与人工处理并存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194560"/>
            <a:ext cx="2148840" cy="123444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汇报证据难归集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52344"/>
            <a:ext cx="1874519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签收 / 回执 / 关闭证明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807208" y="1984248"/>
            <a:ext cx="164592" cy="82296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07208" y="2807208"/>
            <a:ext cx="164592" cy="96012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1984248"/>
            <a:ext cx="594360" cy="0"/>
          </a:xfrm>
          <a:prstGeom prst="line">
            <a:avLst/>
          </a:prstGeom>
          <a:ln w="2032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3767328"/>
            <a:ext cx="594360" cy="0"/>
          </a:xfrm>
          <a:prstGeom prst="line">
            <a:avLst/>
          </a:prstGeom>
          <a:ln w="2032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1984248"/>
            <a:ext cx="594360" cy="822960"/>
          </a:xfrm>
          <a:prstGeom prst="line">
            <a:avLst/>
          </a:prstGeom>
          <a:ln w="2032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63840" y="2807208"/>
            <a:ext cx="594360" cy="960120"/>
          </a:xfrm>
          <a:prstGeom prst="line">
            <a:avLst/>
          </a:prstGeom>
          <a:ln w="2032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89204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5148072"/>
            <a:ext cx="10195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4274A"/>
                </a:solidFill>
                <a:latin typeface="PingFang SC"/>
              </a:rPr>
              <a:t>如果继续依靠文件汇总，容易出现漏核查、责任不清、整改逾期和证据缺失。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07024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6016752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核心难点：如何让每个账号和成本权限都有人确认、有整改结果、有完整证据。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解决方案三｜季度任务、分级复核、整改闭环与管理层报告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每季度冻结核查范围，按用户生成核查任务，并对整改结果持续复核和归档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298448" cy="117043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C68CD"/>
                </a:solidFill>
                <a:latin typeface="PingFang SC"/>
              </a:rPr>
              <a:t>系统 / 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8"/>
            <a:ext cx="1298448" cy="117043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用户与负责人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298448" cy="117043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系统负责人 /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22576" y="159105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启动季度任务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05740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冻结核查范围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17136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159105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采集全量快照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 + 成本权限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91655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1424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59105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身份归集比对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05740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本期 / 上期 / 在职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95944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25712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59105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生成个人核查包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5740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按用户汇总所有系统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04704" y="256032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12848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22576" y="300837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用户本人确认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347472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本人账号 / 非本人 / 不再需要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87368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17136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26864" y="300837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直接负责人复核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7472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账号必要性与用途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91655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21424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31152" y="300837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成本权限加签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47472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一级领导 + 财务负责人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95944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25712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300837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形成整改意见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7472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保留 / 关闭 / 调整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04704" y="397764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12848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22576" y="442569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派发整改任务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489204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API 自动或线下待办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87368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17136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26864" y="442569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执行并回传证据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89204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结果 / 截图 / 外部单号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91655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21424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31152" y="442569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复核闭环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89204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未关闭持续催办升级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95944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25712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4425696"/>
            <a:ext cx="165506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归档与汇报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892040"/>
            <a:ext cx="165506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报告 + 签收 + 证据包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742432"/>
            <a:ext cx="1069848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" y="591616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4274A"/>
                </a:solidFill>
                <a:latin typeface="PingFang SC"/>
              </a:rPr>
              <a:t>关键分支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5879592"/>
            <a:ext cx="9098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普通账号：本人确认 → 直接负责人复核；成本权限：追加一级领导与财务负责人；离职人员：跳过本人确认，直接进入跨系统清零。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沿用 Logto/OIDC 方案基础，新增身份治理、工作流和对账能力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10835640" cy="658368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287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登录门户    个人中心    管理后台    审计报表    OpenAPI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331720"/>
            <a:ext cx="242316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542032"/>
            <a:ext cx="2084831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认证服务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26080"/>
            <a:ext cx="2084831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Logto / OIDC
MFA / WebAuthn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31720"/>
            <a:ext cx="242316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542032"/>
            <a:ext cx="2084831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身份治理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084831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Person / Account
匹配与冲突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242316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542032"/>
            <a:ext cx="2084831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流程中心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26080"/>
            <a:ext cx="2084831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申请 / 审批
待办 / 处理时限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2316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2" y="2542032"/>
            <a:ext cx="2084831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C94349"/>
                </a:solidFill>
                <a:latin typeface="PingFang SC"/>
              </a:rPr>
              <a:t>审计对账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926080"/>
            <a:ext cx="2084831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快照 / 差异
季度复核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3566160"/>
            <a:ext cx="0" cy="292608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858768"/>
            <a:ext cx="10835640" cy="6583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50791"/>
            <a:ext cx="10378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274A"/>
                </a:solidFill>
                <a:latin typeface="PingFang SC"/>
              </a:rPr>
              <a:t>PostgreSQL（治理/审计分区）   Redis（限流/任务）   对象存储（回执证据）   消息队列（事件）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065776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主数据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2920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OA / 飞书 / 北森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5065776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业务系统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2920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OIDC / API / 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5065776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协同审批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2920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飞书 / OA / 邮件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6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502920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IM / 短信 / 邮箱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2531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6035040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安全边界：凭证只存认证服务；业务系统保留本地授权；审计事件只增不改。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技术实现与一期计划｜一期建设范围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接口与手工并存，优先覆盖内审高频系统与成本权限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66294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6035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一期必须交付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6035040" cy="2926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登录门户：密码、邮箱/手机验证码、MFA；密码到期提醒、修改或审批延期
• OIDC 接入模板：系统注册、回调白名单、secret 轮换
• 统一身份主档：Excel 导入、字段映射、匹配分流、人工捏对
• 账号/权限目录：系统准入、有效期、权限快照、成本权限生命周期
• 待办闭环：账号开通/延期/关闭，成本权限申请/启用/延期/禁用，支持线下回执
• 审计与报表：离职销户核查、成本权限责任链汇报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89888"/>
            <a:ext cx="3703320" cy="203911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一期建议试点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1546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32F3F"/>
                </a:solidFill>
                <a:latin typeface="PingFang SC"/>
              </a:rPr>
              <a:t>5 个账号治理系统
2 个 OIDC 登录接入系统
4 套成本权限清单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794760"/>
            <a:ext cx="3703320" cy="20299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409651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暂缓到二期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45152"/>
            <a:ext cx="31546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企业微信/北森联合登录扩展
更多系统自动开关账号
高级风险模型与移动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1675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6126480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交互原型已具备：O-V2.0 用户中心原型（关联/台账/生命周期/成本复核/季度流程/团队账号）。试点按风险高、数据可得、负责人配合、接口代表性评分。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扩展后的治理范围明显大于原统一登录 MVP，不建议沿用 1–2 人、6–8 周口径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P0｜2 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267712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范围冻结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862072"/>
            <a:ext cx="1645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系统清册
字段字典
责任链确认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P1｜4 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2267712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1D97BC"/>
                </a:solidFill>
                <a:latin typeface="PingFang SC"/>
              </a:rPr>
              <a:t>身份底座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62072"/>
            <a:ext cx="1645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统一主档
导入映射
匹配工作台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463040"/>
            <a:ext cx="123444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P2｜4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965960"/>
            <a:ext cx="1965960" cy="2148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4" y="2267712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认证接入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62072"/>
            <a:ext cx="1645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Logto/OIDC
MFA/策略
2 系统试点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16951" y="1463040"/>
            <a:ext cx="123444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P3｜4 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1965960"/>
            <a:ext cx="1965960" cy="2148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98663" y="2267712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治理闭环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2862072"/>
            <a:ext cx="1645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工单待办
权限快照
离职核验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3017520"/>
            <a:ext cx="256031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48672" y="1463040"/>
            <a:ext cx="123444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P4｜2 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965960"/>
            <a:ext cx="1965960" cy="21488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267712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试运行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862072"/>
            <a:ext cx="1645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季度演练
安全测试
验收汇报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81728"/>
            <a:ext cx="10698480" cy="98755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98348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建议核心团队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937760"/>
            <a:ext cx="8046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产品 1｜架构/后端 2–3｜前端 1–2｜测试 1｜数据运营 1｜安全与运维兼职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7044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5980176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里程碑出口：试点可登录、账号可关联、离职可闭环、季度可归档、报告可生成；配套上线回滚与验收门禁。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风险与待确认｜主要实施风险及评审决策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上半部分列出主要实施风险，下半部分列出需要本次评审确认的 6 个事项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84124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身份误关联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1499616"/>
            <a:ext cx="3520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低置信度不自动合并；保留证据和可撤销映射。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84124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517904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E28732"/>
                </a:solidFill>
                <a:latin typeface="PingFang SC"/>
              </a:rPr>
              <a:t>接口能力不足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1499616"/>
            <a:ext cx="3520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统一状态机支持自动与人工执行，不把“无接口”当阻塞。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84124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615184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PingFang SC"/>
              </a:rPr>
              <a:t>审批链易变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596896"/>
            <a:ext cx="3520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按权限类型配置路由，负责人数据来自主数据并允许授权维护。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120640" cy="84124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615184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2946B"/>
                </a:solidFill>
                <a:latin typeface="PingFang SC"/>
              </a:rPr>
              <a:t>权限边界混淆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596896"/>
            <a:ext cx="3520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一期只读聚合；业务系统继续负责实时鉴权。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14274A"/>
                </a:solidFill>
                <a:latin typeface="PingFang SC"/>
              </a:rPr>
              <a:t>待评审确认事项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24528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多系统账号匹配规则与人工确认标准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224528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未匹配账号的认领、转交与关闭流程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791456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组织同步接口、同步频率及负责人变更流程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791456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一期支持统一登录的系统清单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358384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支持账号开关及成本权限接口的系统清单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5358384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邮件通知功能是否保留及使用边界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  <p:sp>
        <p:nvSpPr>
          <p:cNvPr id="33" name="TextBox 17"/>
          <p:cNvSpPr txBox="1"/>
          <p:nvPr/>
        </p:nvSpPr>
        <p:spPr>
          <a:xfrm>
            <a:off x="749808" y="1180000"/>
            <a:ext cx="2011680" cy="28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14274A"/>
                </a:solidFill>
                <a:latin typeface="PingFang SC"/>
              </a:rPr>
              <a:t>主要实施风险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1717</Words>
  <Application>Microsoft Macintosh PowerPoint</Application>
  <PresentationFormat>宽屏</PresentationFormat>
  <Paragraphs>467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Microsoft YaHei</vt:lpstr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lecoo用户中心-开发方案与实施路线图-V1.2</dc:title>
  <dc:subject>精简汇报版，共21页</dc:subject>
  <dc:creator>lecoo</dc:creator>
  <cp:keywords>用户中心, SSO, 身份治理, 账号审计, MFA, OIDC</cp:keywords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2026-08-03T04:40:09Z</dcterms:modified>
  <cp:category/>
</cp:coreProperties>
</file>