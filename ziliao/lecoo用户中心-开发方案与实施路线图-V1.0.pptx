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D97BC"/>
          </a:solidFill>
          <a:ln w="12700">
            <a:solidFill>
              <a:srgbClr val="1D97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704088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ingFang SC"/>
              </a:rPr>
              <a:t>lecoo 用户中心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965960"/>
            <a:ext cx="804672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300" b="1">
                <a:solidFill>
                  <a:srgbClr val="C4DCFA"/>
                </a:solidFill>
                <a:latin typeface="PingFang SC"/>
              </a:rPr>
              <a:t>统一登录 · 身份治理 · 账号安全管理与审计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70048"/>
            <a:ext cx="50292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PingFang SC"/>
              </a:rPr>
              <a:t>开发方案与实施路线图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23360"/>
            <a:ext cx="16459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6B3D8"/>
                </a:solidFill>
                <a:latin typeface="PingFang SC"/>
              </a:rPr>
              <a:t>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343400"/>
            <a:ext cx="20574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ingFang SC"/>
              </a:rPr>
              <a:t>统一身份入口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023360"/>
            <a:ext cx="16459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6B3D8"/>
                </a:solidFill>
                <a:latin typeface="PingFang SC"/>
              </a:rPr>
              <a:t>核心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343400"/>
            <a:ext cx="20574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ingFang SC"/>
              </a:rPr>
              <a:t>账号全生命周期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4023360"/>
            <a:ext cx="16459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6B3D8"/>
                </a:solidFill>
                <a:latin typeface="PingFang SC"/>
              </a:rPr>
              <a:t>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4343400"/>
            <a:ext cx="20574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ingFang SC"/>
              </a:rPr>
              <a:t>可核查、可闭环、可汇报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080760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PingFang SC"/>
              </a:rPr>
              <a:t>V1.0｜2026.07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080760"/>
            <a:ext cx="30175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0">
                <a:solidFill>
                  <a:srgbClr val="C4DCFA"/>
                </a:solidFill>
                <a:latin typeface="PingFang SC"/>
              </a:rPr>
              <a:t>面向管理层决策与技术评审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目录｜汇报内容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围绕为什么建设、建设什么、如何落地以及需要确认什么展开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353312"/>
            <a:ext cx="10680192" cy="74980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517904"/>
            <a:ext cx="5669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2C68CD"/>
                </a:solidFill>
                <a:latin typeface="PingFang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1499616"/>
            <a:ext cx="248716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C68CD"/>
                </a:solidFill>
                <a:latin typeface="PingFang SC"/>
              </a:rPr>
              <a:t>建设需求与现状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79392" y="1508760"/>
            <a:ext cx="58064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32F3F"/>
                </a:solidFill>
                <a:latin typeface="PingFang SC"/>
              </a:rPr>
              <a:t>业务需求、系统定位、现状问题与建设必要性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87000" y="1563624"/>
            <a:ext cx="80467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2C68CD"/>
                </a:solidFill>
                <a:latin typeface="PingFang SC"/>
              </a:rPr>
              <a:t>03–05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231136"/>
            <a:ext cx="10680192" cy="74980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395728"/>
            <a:ext cx="5669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1D97BC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2377440"/>
            <a:ext cx="248716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D97BC"/>
                </a:solidFill>
                <a:latin typeface="PingFang SC"/>
              </a:rPr>
              <a:t>实现目标与功能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2386584"/>
            <a:ext cx="58064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32F3F"/>
                </a:solidFill>
                <a:latin typeface="PingFang SC"/>
              </a:rPr>
              <a:t>两大模块、登录安全、子系统接入与治理目标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87000" y="2441448"/>
            <a:ext cx="80467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1D97BC"/>
                </a:solidFill>
                <a:latin typeface="PingFang SC"/>
              </a:rPr>
              <a:t>06–08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108960"/>
            <a:ext cx="10680192" cy="749808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273552"/>
            <a:ext cx="5669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E28732"/>
                </a:solidFill>
                <a:latin typeface="PingFang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5648" y="3255264"/>
            <a:ext cx="248716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E28732"/>
                </a:solidFill>
                <a:latin typeface="PingFang SC"/>
              </a:rPr>
              <a:t>核心难点与方案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392" y="3264408"/>
            <a:ext cx="58064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32F3F"/>
                </a:solidFill>
                <a:latin typeface="PingFang SC"/>
              </a:rPr>
              <a:t>账号统一、团队管理、权限责任与季度审计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87000" y="3319272"/>
            <a:ext cx="80467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E28732"/>
                </a:solidFill>
                <a:latin typeface="PingFang SC"/>
              </a:rPr>
              <a:t>09–16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986783"/>
            <a:ext cx="10680192" cy="749808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151375"/>
            <a:ext cx="5669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22946B"/>
                </a:solidFill>
                <a:latin typeface="PingFang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5648" y="4133087"/>
            <a:ext cx="248716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2946B"/>
                </a:solidFill>
                <a:latin typeface="PingFang SC"/>
              </a:rPr>
              <a:t>技术实现与一期计划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142231"/>
            <a:ext cx="58064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32F3F"/>
                </a:solidFill>
                <a:latin typeface="PingFang SC"/>
              </a:rPr>
              <a:t>技术架构、数据模型、一期范围与实施路线图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87000" y="4197096"/>
            <a:ext cx="80467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22946B"/>
                </a:solidFill>
                <a:latin typeface="PingFang SC"/>
              </a:rPr>
              <a:t>17–20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64608"/>
            <a:ext cx="10680192" cy="749808"/>
          </a:xfrm>
          <a:prstGeom prst="roundRect">
            <a:avLst/>
          </a:prstGeom>
          <a:solidFill>
            <a:srgbClr val="FCECEE"/>
          </a:solidFill>
          <a:ln w="12700">
            <a:solidFill>
              <a:srgbClr val="F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29200"/>
            <a:ext cx="5669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C94349"/>
                </a:solidFill>
                <a:latin typeface="PingFang SC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5648" y="5010912"/>
            <a:ext cx="248716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C94349"/>
                </a:solidFill>
                <a:latin typeface="PingFang SC"/>
              </a:rPr>
              <a:t>当前问题与待确认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020056"/>
            <a:ext cx="58064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32F3F"/>
                </a:solidFill>
                <a:latin typeface="PingFang SC"/>
              </a:rPr>
              <a:t>关键风险、外部依赖、资源及评审决策事项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87000" y="5074920"/>
            <a:ext cx="80467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C94349"/>
                </a:solidFill>
                <a:latin typeface="PingFang SC"/>
              </a:rPr>
              <a:t>21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5806440"/>
            <a:ext cx="10680192" cy="475488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F3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916168"/>
            <a:ext cx="103875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4274A"/>
                </a:solidFill>
                <a:latin typeface="PingFang SC"/>
              </a:rPr>
              <a:t>建议汇报时长：20 分钟；重点讨论第 03、05 部分。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建设需求与现状｜执行摘要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本次建设不仅解决怎么登录，更要回答账号属于谁、为何存在、何时关闭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429000" cy="443484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28346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2C68CD"/>
                </a:solidFill>
                <a:latin typeface="PingFang SC"/>
              </a:rPr>
              <a:t>一个统一主档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2788920" cy="2103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一个自然人对应一个统一身份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可关联多个系统、多个账号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每条关联保留证据与置信度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" y="4983480"/>
            <a:ext cx="2834640" cy="47548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5093208"/>
            <a:ext cx="254203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人是主线，账号与权限是资产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417320"/>
            <a:ext cx="3429000" cy="4434840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1737360"/>
            <a:ext cx="28346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22946B"/>
                </a:solidFill>
                <a:latin typeface="PingFang SC"/>
              </a:rPr>
              <a:t>两类使用入口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331720"/>
            <a:ext cx="2788920" cy="2103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员工入口：登录门户 + 个人中心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管理入口：统一管理后台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26864" y="4983480"/>
            <a:ext cx="2834640" cy="475488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5093208"/>
            <a:ext cx="254203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2946B"/>
                </a:solidFill>
                <a:latin typeface="PingFang SC"/>
              </a:rPr>
              <a:t>认证与治理分层，避免边界失控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417320"/>
            <a:ext cx="3429000" cy="4434840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37360"/>
            <a:ext cx="28346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E28732"/>
                </a:solidFill>
                <a:latin typeface="PingFang SC"/>
              </a:rPr>
              <a:t>三类闭环结果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331720"/>
            <a:ext cx="2788920" cy="2103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账号申请、审批、执行、回执全程留痕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成本权限按责任链定期复核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离职触发跨系统账号清零核验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02752" y="4983480"/>
            <a:ext cx="2834640" cy="475488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49056" y="5093208"/>
            <a:ext cx="254203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E28732"/>
                </a:solidFill>
                <a:latin typeface="PingFang SC"/>
              </a:rPr>
              <a:t>一期接口与人工操作并存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建设需求与现状｜现状问题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基于 2026.4 内审账号资料与既有统一登录方案抽样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20574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000" b="1">
                <a:solidFill>
                  <a:srgbClr val="2C68CD"/>
                </a:solidFill>
                <a:latin typeface="PingFang SC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75688"/>
            <a:ext cx="2057400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57284"/>
                </a:solidFill>
                <a:latin typeface="PingFang SC"/>
              </a:rPr>
              <a:t>份异构账号来源文件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554480"/>
            <a:ext cx="20574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000" b="1">
                <a:solidFill>
                  <a:srgbClr val="1D97BC"/>
                </a:solidFill>
                <a:latin typeface="PingFang SC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075688"/>
            <a:ext cx="2057400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57284"/>
                </a:solidFill>
                <a:latin typeface="PingFang SC"/>
              </a:rPr>
              <a:t>个季度核查系统口径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554480"/>
            <a:ext cx="20574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000" b="1">
                <a:solidFill>
                  <a:srgbClr val="E28732"/>
                </a:solidFill>
                <a:latin typeface="PingFang SC"/>
              </a:rPr>
              <a:t>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075688"/>
            <a:ext cx="2057400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57284"/>
                </a:solidFill>
                <a:latin typeface="PingFang SC"/>
              </a:rPr>
              <a:t>条成本权限记录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554480"/>
            <a:ext cx="20574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000" b="1">
                <a:solidFill>
                  <a:srgbClr val="C94349"/>
                </a:solidFill>
                <a:latin typeface="PingFang SC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75688"/>
            <a:ext cx="2057400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57284"/>
                </a:solidFill>
                <a:latin typeface="PingFang SC"/>
              </a:rPr>
              <a:t>套成本权限清单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1554480"/>
            <a:ext cx="20574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000" b="1">
                <a:solidFill>
                  <a:srgbClr val="22946B"/>
                </a:solidFill>
                <a:latin typeface="PingFang SC"/>
              </a:rPr>
              <a:t>线上+线下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2075688"/>
            <a:ext cx="2057400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57284"/>
                </a:solidFill>
                <a:latin typeface="PingFang SC"/>
              </a:rPr>
              <a:t>当前真实执行方式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2788920"/>
            <a:ext cx="106984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13232" y="3127248"/>
            <a:ext cx="24688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" y="3383280"/>
            <a:ext cx="1143000" cy="329184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2C68CD"/>
                </a:solidFill>
                <a:latin typeface="PingFang SC"/>
              </a:rPr>
              <a:t>字段不一致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950208"/>
            <a:ext cx="2084831" cy="1234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username、姓名、工号、ITcode、手机号、邮箱、OA 编号各自存在，无法依赖单一键。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56432" y="3127248"/>
            <a:ext cx="24688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39312" y="3383280"/>
            <a:ext cx="1143000" cy="329184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E28732"/>
                </a:solidFill>
                <a:latin typeface="PingFang SC"/>
              </a:rPr>
              <a:t>来源不一致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3950208"/>
            <a:ext cx="2084831" cy="1234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员工、外部人员、门店账号、共享账号并存，状态与责任人缺失。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3127248"/>
            <a:ext cx="24688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82512" y="3383280"/>
            <a:ext cx="1143000" cy="329184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22946B"/>
                </a:solidFill>
                <a:latin typeface="PingFang SC"/>
              </a:rPr>
              <a:t>执行不一致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3950208"/>
            <a:ext cx="2084831" cy="1234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部分系统可接口停用，部分只能由负责人线下操作并回传证据。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42832" y="3127248"/>
            <a:ext cx="24688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25711" y="3383280"/>
            <a:ext cx="1143000" cy="329184"/>
          </a:xfrm>
          <a:prstGeom prst="roundRect">
            <a:avLst/>
          </a:prstGeom>
          <a:solidFill>
            <a:srgbClr val="FCECEE"/>
          </a:solidFill>
          <a:ln w="12700">
            <a:solidFill>
              <a:srgbClr val="F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C94349"/>
                </a:solidFill>
                <a:latin typeface="PingFang SC"/>
              </a:rPr>
              <a:t>组织责任不统一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1" y="3950208"/>
            <a:ext cx="2084831" cy="1234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部门与负责人需支持指定；组织架构从飞书或北森同步，例外规则不再散落 Excel。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833872"/>
            <a:ext cx="10698480" cy="47548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" y="5943600"/>
            <a:ext cx="10405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结论：先建立“统一身份 + 账号映射 + 责任链”，再逐步提高自动化比例。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建设需求与现状｜系统定位与边界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认证中心解决“你是谁”，治理中心解决“你拥有什么、谁负责、是否合规”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57800" cy="452628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19072"/>
            <a:ext cx="4617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2C68CD"/>
                </a:solidFill>
                <a:latin typeface="PingFang SC"/>
              </a:rPr>
              <a:t>模块 A｜统一登录与账号安全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331720"/>
            <a:ext cx="4572000" cy="2697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账号密码、手机/邮箱验证码、图片验证码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MFA：TOTP、短信、邮箱、备用码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飞书、企业微信、北森等联合登录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人脸/指纹采用 WebAuthn 或设备能力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子系统 OIDC 自动登录、会话与登出策略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417320"/>
            <a:ext cx="5257800" cy="4526280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719072"/>
            <a:ext cx="4617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22946B"/>
                </a:solidFill>
                <a:latin typeface="PingFang SC"/>
              </a:rPr>
              <a:t>模块 B｜身份治理与安全审计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331720"/>
            <a:ext cx="4572000" cy="2697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统一用户主档与多系统账号关联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系统准入、认证有效期、账号生命周期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权限快照、成本权限、责任链与复核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开通/变更/关闭待办，线上线下闭环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季度核查、离职销户核验、审计汇报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6053328"/>
            <a:ext cx="10716768" cy="47548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6163056"/>
            <a:ext cx="10424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边界原则：业务系统仍负责本地菜单/数据权限实时鉴权；用户中心负责统一身份、准入策略、权限目录与审计。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实现目标与功能｜功能全景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两个业务模块独立建设，共享统一身份、组织架构和审计底座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53312"/>
            <a:ext cx="5376672" cy="4187952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2C68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32688" y="1600200"/>
            <a:ext cx="7498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2C68CD"/>
                </a:solidFill>
                <a:latin typeface="PingFang SC"/>
              </a:rPr>
              <a:t>模块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7088" y="1572768"/>
            <a:ext cx="36118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2C68CD"/>
                </a:solidFill>
                <a:latin typeface="PingFang SC"/>
              </a:rPr>
              <a:t>统一登录与账号安全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2331720"/>
            <a:ext cx="14630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2624328"/>
            <a:ext cx="124358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2C68CD"/>
                </a:solidFill>
                <a:latin typeface="PingFang SC"/>
              </a:rPr>
              <a:t>多方式认证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70432" y="3090672"/>
            <a:ext cx="987552" cy="0"/>
          </a:xfrm>
          <a:prstGeom prst="line">
            <a:avLst/>
          </a:prstGeom>
          <a:ln w="1524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42416" y="3364992"/>
            <a:ext cx="1243584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232F3F"/>
                </a:solidFill>
                <a:latin typeface="PingFang SC"/>
              </a:rPr>
              <a:t>密码 / 验证码
MFA / 生物识别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2331720"/>
            <a:ext cx="14630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5768" y="2624328"/>
            <a:ext cx="124358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D97BC"/>
                </a:solidFill>
                <a:latin typeface="PingFang SC"/>
              </a:rPr>
              <a:t>联合登录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43784" y="3090672"/>
            <a:ext cx="987552" cy="0"/>
          </a:xfrm>
          <a:prstGeom prst="line">
            <a:avLst/>
          </a:prstGeom>
          <a:ln w="15240">
            <a:solidFill>
              <a:srgbClr val="1D9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15768" y="3364992"/>
            <a:ext cx="1243584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232F3F"/>
                </a:solidFill>
                <a:latin typeface="PingFang SC"/>
              </a:rPr>
              <a:t>飞书 / 企微 / 北森
外部 IdP 连接器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9392" y="2331720"/>
            <a:ext cx="14630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624328"/>
            <a:ext cx="124358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4274A"/>
                </a:solidFill>
                <a:latin typeface="PingFang SC"/>
              </a:rPr>
              <a:t>子系统接入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17136" y="3090672"/>
            <a:ext cx="987552" cy="0"/>
          </a:xfrm>
          <a:prstGeom prst="line">
            <a:avLst/>
          </a:prstGeom>
          <a:ln w="15240">
            <a:solidFill>
              <a:srgbClr val="142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389120" y="3364992"/>
            <a:ext cx="1243584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232F3F"/>
                </a:solidFill>
                <a:latin typeface="PingFang SC"/>
              </a:rPr>
              <a:t>OIDC / PKCE
会话策略 / SLO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" y="4773168"/>
            <a:ext cx="4828032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4882896"/>
            <a:ext cx="45354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目标：一次认证，按策略安全访问已授权系统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353312"/>
            <a:ext cx="5376672" cy="4187952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2294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46520" y="1600200"/>
            <a:ext cx="7498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22946B"/>
                </a:solidFill>
                <a:latin typeface="PingFang SC"/>
              </a:rPr>
              <a:t>模块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1572768"/>
            <a:ext cx="36118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22946B"/>
                </a:solidFill>
                <a:latin typeface="PingFang SC"/>
              </a:rPr>
              <a:t>身份治理与安全审计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46520" y="2331720"/>
            <a:ext cx="14630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6248" y="2624328"/>
            <a:ext cx="124358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22946B"/>
                </a:solidFill>
                <a:latin typeface="PingFang SC"/>
              </a:rPr>
              <a:t>账号治理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84264" y="3090672"/>
            <a:ext cx="987552" cy="0"/>
          </a:xfrm>
          <a:prstGeom prst="line">
            <a:avLst/>
          </a:prstGeom>
          <a:ln w="15240">
            <a:solidFill>
              <a:srgbClr val="2294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56248" y="3364992"/>
            <a:ext cx="1243584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232F3F"/>
                </a:solidFill>
                <a:latin typeface="PingFang SC"/>
              </a:rPr>
              <a:t>统一主档 / 账号关联
开通 / 关闭 / 有效期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9872" y="2331720"/>
            <a:ext cx="14630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2624328"/>
            <a:ext cx="124358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E28732"/>
                </a:solidFill>
                <a:latin typeface="PingFang SC"/>
              </a:rPr>
              <a:t>权限治理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57616" y="3090672"/>
            <a:ext cx="987552" cy="0"/>
          </a:xfrm>
          <a:prstGeom prst="line">
            <a:avLst/>
          </a:prstGeom>
          <a:ln w="15240">
            <a:solidFill>
              <a:srgbClr val="E287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229600" y="3364992"/>
            <a:ext cx="1243584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232F3F"/>
                </a:solidFill>
                <a:latin typeface="PingFang SC"/>
              </a:rPr>
              <a:t>权限快照 / 成本权限
责任链 / 定期复核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93224" y="2331720"/>
            <a:ext cx="14630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02952" y="2624328"/>
            <a:ext cx="124358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C94349"/>
                </a:solidFill>
                <a:latin typeface="PingFang SC"/>
              </a:rPr>
              <a:t>流程与审计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030968" y="3090672"/>
            <a:ext cx="987552" cy="0"/>
          </a:xfrm>
          <a:prstGeom prst="line">
            <a:avLst/>
          </a:prstGeom>
          <a:ln w="15240">
            <a:solidFill>
              <a:srgbClr val="C943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902952" y="3364992"/>
            <a:ext cx="1243584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232F3F"/>
                </a:solidFill>
                <a:latin typeface="PingFang SC"/>
              </a:rPr>
              <a:t>待办 / 审批 / 回执
季度盘点 / 离职核验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46520" y="4773168"/>
            <a:ext cx="4828032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92824" y="4882896"/>
            <a:ext cx="45354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2946B"/>
                </a:solidFill>
                <a:latin typeface="PingFang SC"/>
              </a:rPr>
              <a:t>目标：账号有归属、权限有依据、操作可追溯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8720" y="5733288"/>
            <a:ext cx="9802368" cy="530352"/>
          </a:xfrm>
          <a:prstGeom prst="roundRect">
            <a:avLst/>
          </a:prstGeom>
          <a:solidFill>
            <a:srgbClr val="14274A"/>
          </a:solidFill>
          <a:ln w="12700">
            <a:solidFill>
              <a:srgbClr val="1427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17320" y="5879592"/>
            <a:ext cx="934516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共享底座：统一身份主档  ·  飞书/北森组织架构  ·  部门与负责人配置  ·  审计证据链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实现目标与功能｜登录安全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低风险顺畅通行，高风险触发 Step-up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468880" cy="297180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32688" y="1737360"/>
            <a:ext cx="53035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2C68CD"/>
                </a:solidFill>
                <a:latin typeface="PingFang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267712"/>
            <a:ext cx="2057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2C68CD"/>
                </a:solidFill>
                <a:latin typeface="PingFang SC"/>
              </a:rPr>
              <a:t>L1 常规登录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816352"/>
            <a:ext cx="2057400" cy="1188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账号密码
手机/邮箱验证码
图片验证码与防爆破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18688" y="2999232"/>
            <a:ext cx="210312" cy="0"/>
          </a:xfrm>
          <a:prstGeom prst="line">
            <a:avLst/>
          </a:prstGeom>
          <a:ln w="2032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74720" y="1508760"/>
            <a:ext cx="2468880" cy="297180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75887" y="1737360"/>
            <a:ext cx="53035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1D97BC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267712"/>
            <a:ext cx="2057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D97BC"/>
                </a:solidFill>
                <a:latin typeface="PingFang SC"/>
              </a:rPr>
              <a:t>L2 联合登录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2816352"/>
            <a:ext cx="2057400" cy="1188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飞书 / 企业微信 / 北森
校验外部 IdP 身份
回到统一身份主档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61888" y="2999232"/>
            <a:ext cx="210312" cy="0"/>
          </a:xfrm>
          <a:prstGeom prst="line">
            <a:avLst/>
          </a:prstGeom>
          <a:ln w="2032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217920" y="1508760"/>
            <a:ext cx="2468880" cy="2971800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19088" y="1737360"/>
            <a:ext cx="53035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E28732"/>
                </a:solidFill>
                <a:latin typeface="PingFang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267712"/>
            <a:ext cx="2057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E28732"/>
                </a:solidFill>
                <a:latin typeface="PingFang SC"/>
              </a:rPr>
              <a:t>L3 强认证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2816352"/>
            <a:ext cx="2057400" cy="1188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TOTP / 短信 / 邮箱
Passkey / WebAuthn
备用码与设备管理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05088" y="2999232"/>
            <a:ext cx="210312" cy="0"/>
          </a:xfrm>
          <a:prstGeom prst="line">
            <a:avLst/>
          </a:prstGeom>
          <a:ln w="2032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961120" y="1508760"/>
            <a:ext cx="2468880" cy="2971800"/>
          </a:xfrm>
          <a:prstGeom prst="roundRect">
            <a:avLst/>
          </a:prstGeom>
          <a:solidFill>
            <a:srgbClr val="FCECEE"/>
          </a:solidFill>
          <a:ln w="12700">
            <a:solidFill>
              <a:srgbClr val="F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62288" y="1737360"/>
            <a:ext cx="53035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C94349"/>
                </a:solidFill>
                <a:latin typeface="PingFang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2267712"/>
            <a:ext cx="2057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C94349"/>
                </a:solidFill>
                <a:latin typeface="PingFang SC"/>
              </a:rPr>
              <a:t>L4 敏感操作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2816352"/>
            <a:ext cx="2057400" cy="1188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查看成本权限
重置凭证 / 导出数据
强制二次认证 + 审计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800600"/>
            <a:ext cx="10698480" cy="960120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F3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074920"/>
            <a:ext cx="1874519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4274A"/>
                </a:solidFill>
                <a:latin typeface="PingFang SC"/>
              </a:rPr>
              <a:t>移动端人脸/指纹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38344"/>
            <a:ext cx="80467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采用设备生物能力解锁 Passkey / 本机会话；生物模板不上传、不在用户中心存储。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实现目标与功能｜子系统接入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建议统一采用 OIDC Authorization Code + PKCE；保留连接器扩展能力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1874519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2084831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4274A"/>
                </a:solidFill>
                <a:latin typeface="PingFang SC"/>
              </a:rPr>
              <a:t>访问子系统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496312"/>
            <a:ext cx="1645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用户发起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77439" y="2423160"/>
            <a:ext cx="365761" cy="0"/>
          </a:xfrm>
          <a:prstGeom prst="line">
            <a:avLst/>
          </a:prstGeom>
          <a:ln w="2286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34639" y="1828800"/>
            <a:ext cx="1874519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2084831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4274A"/>
                </a:solidFill>
                <a:latin typeface="PingFang SC"/>
              </a:rPr>
              <a:t>跳转用户中心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2496312"/>
            <a:ext cx="1645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携带 state/nonce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09159" y="2423160"/>
            <a:ext cx="365761" cy="0"/>
          </a:xfrm>
          <a:prstGeom prst="line">
            <a:avLst/>
          </a:prstGeom>
          <a:ln w="2286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66359" y="1828800"/>
            <a:ext cx="1874519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76088" y="2084831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4274A"/>
                </a:solidFill>
                <a:latin typeface="PingFang SC"/>
              </a:rPr>
              <a:t>完成认证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6088" y="2496312"/>
            <a:ext cx="1645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按风险触发 MFA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040879" y="2423160"/>
            <a:ext cx="365761" cy="0"/>
          </a:xfrm>
          <a:prstGeom prst="line">
            <a:avLst/>
          </a:prstGeom>
          <a:ln w="2286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98079" y="1828800"/>
            <a:ext cx="1874519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7807" y="2084831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4274A"/>
                </a:solidFill>
                <a:latin typeface="PingFang SC"/>
              </a:rPr>
              <a:t>签发授权码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2496312"/>
            <a:ext cx="1645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短期、一次性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72600" y="2423160"/>
            <a:ext cx="365759" cy="0"/>
          </a:xfrm>
          <a:prstGeom prst="line">
            <a:avLst/>
          </a:prstGeom>
          <a:ln w="2286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29800" y="1828800"/>
            <a:ext cx="1874519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39528" y="2084831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4274A"/>
                </a:solidFill>
                <a:latin typeface="PingFang SC"/>
              </a:rPr>
              <a:t>建立本地会话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39528" y="2496312"/>
            <a:ext cx="1645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应用自主鉴权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657600"/>
            <a:ext cx="3291840" cy="160020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913632"/>
            <a:ext cx="2788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C68CD"/>
                </a:solidFill>
                <a:latin typeface="PingFang SC"/>
              </a:rPr>
              <a:t>系统级准入策略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389120"/>
            <a:ext cx="278892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32F3F"/>
                </a:solidFill>
                <a:latin typeface="PingFang SC"/>
              </a:rPr>
              <a:t>全员可登录 / 指定组织 / 指定人员申请
可配置登录认证有效期与强认证等级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34840" y="3657600"/>
            <a:ext cx="3291840" cy="1600200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3913632"/>
            <a:ext cx="2788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22946B"/>
                </a:solidFill>
                <a:latin typeface="PingFang SC"/>
              </a:rPr>
              <a:t>双层会话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389120"/>
            <a:ext cx="278892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32F3F"/>
                </a:solidFill>
                <a:latin typeface="PingFang SC"/>
              </a:rPr>
              <a:t>中心 Session 与应用 Session 分离
支持管理员踢人、单点登出和有效期策略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657600"/>
            <a:ext cx="3291840" cy="1600200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3913632"/>
            <a:ext cx="2788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E28732"/>
                </a:solidFill>
                <a:latin typeface="PingFang SC"/>
              </a:rPr>
              <a:t>接入治理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389120"/>
            <a:ext cx="278892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32F3F"/>
                </a:solidFill>
                <a:latin typeface="PingFang SC"/>
              </a:rPr>
              <a:t>回调白名单、secret 一次展示、轮换
沙箱联调、上线审批、接入审计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核心难点与方案｜多系统账号统一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姓名、手机号、itcode、邮箱都可能缺失、重复或变化，不能直接硬合并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81328"/>
            <a:ext cx="2240280" cy="822960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9344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4274A"/>
                </a:solidFill>
                <a:latin typeface="PingFang SC"/>
              </a:rPr>
              <a:t>员工主数据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828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57284"/>
                </a:solidFill>
                <a:latin typeface="PingFang SC"/>
              </a:rPr>
              <a:t>OA / 飞书 / 北森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71800" y="1892808"/>
            <a:ext cx="685800" cy="1014984"/>
          </a:xfrm>
          <a:prstGeom prst="line">
            <a:avLst/>
          </a:prstGeom>
          <a:ln w="1905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2651760"/>
            <a:ext cx="2240280" cy="822960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79776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4274A"/>
                </a:solidFill>
                <a:latin typeface="PingFang SC"/>
              </a:rPr>
              <a:t>系统账号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90672"/>
            <a:ext cx="1828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57284"/>
                </a:solidFill>
                <a:latin typeface="PingFang SC"/>
              </a:rPr>
              <a:t>账号名 / 工号 / 手机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971800" y="2907792"/>
            <a:ext cx="685800" cy="155448"/>
          </a:xfrm>
          <a:prstGeom prst="line">
            <a:avLst/>
          </a:prstGeom>
          <a:ln w="1905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31520" y="3822191"/>
            <a:ext cx="2240280" cy="822960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950207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4274A"/>
                </a:solidFill>
                <a:latin typeface="PingFang SC"/>
              </a:rPr>
              <a:t>人工证据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61104"/>
            <a:ext cx="1828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57284"/>
                </a:solidFill>
                <a:latin typeface="PingFang SC"/>
              </a:rPr>
              <a:t>负责人确认 / 审批单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971800" y="2907792"/>
            <a:ext cx="685800" cy="1325880"/>
          </a:xfrm>
          <a:prstGeom prst="line">
            <a:avLst/>
          </a:prstGeom>
          <a:ln w="1905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657600" y="1938528"/>
            <a:ext cx="3794760" cy="196596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2221992"/>
            <a:ext cx="31546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100" b="1">
                <a:solidFill>
                  <a:srgbClr val="2C68CD"/>
                </a:solidFill>
                <a:latin typeface="PingFang SC"/>
              </a:rPr>
              <a:t>身份解析引擎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2779776"/>
            <a:ext cx="31546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232F3F"/>
                </a:solidFill>
                <a:latin typeface="PingFang SC"/>
              </a:rPr>
              <a:t>字段标准化 → 候选召回 → 规则评分
冲突检测 → 自动关联 / 人工确认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52360" y="2907792"/>
            <a:ext cx="777240" cy="0"/>
          </a:xfrm>
          <a:prstGeom prst="line">
            <a:avLst/>
          </a:prstGeom>
          <a:ln w="25400">
            <a:solidFill>
              <a:srgbClr val="2294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29600" y="1627632"/>
            <a:ext cx="3200400" cy="2743200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1883664"/>
            <a:ext cx="26517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100" b="1">
                <a:solidFill>
                  <a:srgbClr val="22946B"/>
                </a:solidFill>
                <a:latin typeface="PingFang SC"/>
              </a:rPr>
              <a:t>统一身份主档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487168"/>
            <a:ext cx="2651760" cy="1353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232F3F"/>
                </a:solidFill>
                <a:latin typeface="PingFang SC"/>
              </a:rPr>
              <a:t>自然人 Person
↕
多系统 Account
↕
权限快照 / 责任人 / 证据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983480"/>
            <a:ext cx="10698480" cy="868680"/>
          </a:xfrm>
          <a:prstGeom prst="roundRect">
            <a:avLst/>
          </a:prstGeom>
          <a:solidFill>
            <a:srgbClr val="FCECEE"/>
          </a:solidFill>
          <a:ln w="12700">
            <a:solidFill>
              <a:srgbClr val="F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257800"/>
            <a:ext cx="7315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C94349"/>
                </a:solidFill>
                <a:latin typeface="PingFang SC"/>
              </a:rPr>
              <a:t>禁止项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230368"/>
            <a:ext cx="90982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仅凭姓名自动合并；覆盖原始来源数据；删除历史映射证据；把共享账号强行归到个人。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核心难点与方案｜账号匹配策略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规则可解释，人工确认可回溯，后续逐步引入模型辅助但不替代责任确认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828800" cy="502920"/>
          </a:xfrm>
          <a:prstGeom prst="rect">
            <a:avLst/>
          </a:prstGeom>
          <a:solidFill>
            <a:srgbClr val="14274A"/>
          </a:solidFill>
          <a:ln w="12700">
            <a:solidFill>
              <a:srgbClr val="1427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匹配层级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417320"/>
            <a:ext cx="4206240" cy="502920"/>
          </a:xfrm>
          <a:prstGeom prst="rect">
            <a:avLst/>
          </a:prstGeom>
          <a:solidFill>
            <a:srgbClr val="14274A"/>
          </a:solidFill>
          <a:ln w="12700">
            <a:solidFill>
              <a:srgbClr val="1427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示例字段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59" y="1417320"/>
            <a:ext cx="1371600" cy="502920"/>
          </a:xfrm>
          <a:prstGeom prst="rect">
            <a:avLst/>
          </a:prstGeom>
          <a:solidFill>
            <a:srgbClr val="14274A"/>
          </a:solidFill>
          <a:ln w="12700">
            <a:solidFill>
              <a:srgbClr val="1427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可信度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417320"/>
            <a:ext cx="2286000" cy="502920"/>
          </a:xfrm>
          <a:prstGeom prst="rect">
            <a:avLst/>
          </a:prstGeom>
          <a:solidFill>
            <a:srgbClr val="14274A"/>
          </a:solidFill>
          <a:ln w="12700">
            <a:solidFill>
              <a:srgbClr val="1427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默认动作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920240"/>
            <a:ext cx="18288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84832"/>
            <a:ext cx="160934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强标识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1920240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2084832"/>
            <a:ext cx="3986783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32F3F"/>
                </a:solidFill>
                <a:latin typeface="PingFang SC"/>
              </a:rPr>
              <a:t>OA 员工编号、itcode、HR 人员 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59" y="1920240"/>
            <a:ext cx="13716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76288" y="2084832"/>
            <a:ext cx="115214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E28732"/>
                </a:solidFill>
                <a:latin typeface="PingFang SC"/>
              </a:rPr>
              <a:t>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20240"/>
            <a:ext cx="22860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2084832"/>
            <a:ext cx="2066543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2946B"/>
                </a:solidFill>
                <a:latin typeface="PingFang SC"/>
              </a:rPr>
              <a:t>自动关联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587752"/>
            <a:ext cx="1828800" cy="667512"/>
          </a:xfrm>
          <a:prstGeom prst="rect">
            <a:avLst/>
          </a:prstGeom>
          <a:solidFill>
            <a:srgbClr val="F3F7FC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2752344"/>
            <a:ext cx="160934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联系标识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2587752"/>
            <a:ext cx="4206240" cy="667512"/>
          </a:xfrm>
          <a:prstGeom prst="rect">
            <a:avLst/>
          </a:prstGeom>
          <a:solidFill>
            <a:srgbClr val="F3F7FC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70048" y="2752344"/>
            <a:ext cx="3986783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32F3F"/>
                </a:solidFill>
                <a:latin typeface="PingFang SC"/>
              </a:rPr>
              <a:t>标准化手机号、企业邮箱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59" y="2587752"/>
            <a:ext cx="1371600" cy="667512"/>
          </a:xfrm>
          <a:prstGeom prst="rect">
            <a:avLst/>
          </a:prstGeom>
          <a:solidFill>
            <a:srgbClr val="F3F7FC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2752344"/>
            <a:ext cx="115214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E28732"/>
                </a:solidFill>
                <a:latin typeface="PingFang SC"/>
              </a:rPr>
              <a:t>中高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2587752"/>
            <a:ext cx="2286000" cy="667512"/>
          </a:xfrm>
          <a:prstGeom prst="rect">
            <a:avLst/>
          </a:prstGeom>
          <a:solidFill>
            <a:srgbClr val="F3F7FC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7888" y="2752344"/>
            <a:ext cx="2066543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2946B"/>
                </a:solidFill>
                <a:latin typeface="PingFang SC"/>
              </a:rPr>
              <a:t>需检查冲突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255264"/>
            <a:ext cx="18288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3419856"/>
            <a:ext cx="160934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组合特征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3255264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70048" y="3419856"/>
            <a:ext cx="3986783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32F3F"/>
                </a:solidFill>
                <a:latin typeface="PingFang SC"/>
              </a:rPr>
              <a:t>姓名 + 部门 + 直属上级 / 岗位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59" y="3255264"/>
            <a:ext cx="13716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76288" y="3419856"/>
            <a:ext cx="115214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E28732"/>
                </a:solidFill>
                <a:latin typeface="PingFang SC"/>
              </a:rPr>
              <a:t>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255264"/>
            <a:ext cx="22860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7888" y="3419856"/>
            <a:ext cx="2066543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2946B"/>
                </a:solidFill>
                <a:latin typeface="PingFang SC"/>
              </a:rPr>
              <a:t>进入待确认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3922776"/>
            <a:ext cx="1828800" cy="667512"/>
          </a:xfrm>
          <a:prstGeom prst="rect">
            <a:avLst/>
          </a:prstGeom>
          <a:solidFill>
            <a:srgbClr val="F3F7FC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4087368"/>
            <a:ext cx="160934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弱特征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0" y="3922776"/>
            <a:ext cx="4206240" cy="667512"/>
          </a:xfrm>
          <a:prstGeom prst="rect">
            <a:avLst/>
          </a:prstGeom>
          <a:solidFill>
            <a:srgbClr val="F3F7FC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70048" y="4087368"/>
            <a:ext cx="3986783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32F3F"/>
                </a:solidFill>
                <a:latin typeface="PingFang SC"/>
              </a:rPr>
              <a:t>仅姓名、昵称、门店名称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66559" y="3922776"/>
            <a:ext cx="1371600" cy="667512"/>
          </a:xfrm>
          <a:prstGeom prst="rect">
            <a:avLst/>
          </a:prstGeom>
          <a:solidFill>
            <a:srgbClr val="F3F7FC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76288" y="4087368"/>
            <a:ext cx="115214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E28732"/>
                </a:solidFill>
                <a:latin typeface="PingFang SC"/>
              </a:rPr>
              <a:t>低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38160" y="3922776"/>
            <a:ext cx="2286000" cy="667512"/>
          </a:xfrm>
          <a:prstGeom prst="rect">
            <a:avLst/>
          </a:prstGeom>
          <a:solidFill>
            <a:srgbClr val="F3F7FC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47888" y="4087368"/>
            <a:ext cx="2066543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2946B"/>
                </a:solidFill>
                <a:latin typeface="PingFang SC"/>
              </a:rPr>
              <a:t>不得自动关联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800600"/>
            <a:ext cx="3200400" cy="960120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12064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2946B"/>
                </a:solidFill>
                <a:latin typeface="PingFang SC"/>
              </a:rPr>
              <a:t>≥ 90 分｜自动关联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79392" y="4800600"/>
            <a:ext cx="3200400" cy="960120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07992" y="512064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E28732"/>
                </a:solidFill>
                <a:latin typeface="PingFang SC"/>
              </a:rPr>
              <a:t>60–89 分｜人工确认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4800600"/>
            <a:ext cx="3611880" cy="960120"/>
          </a:xfrm>
          <a:prstGeom prst="roundRect">
            <a:avLst/>
          </a:prstGeom>
          <a:solidFill>
            <a:srgbClr val="FCECEE"/>
          </a:solidFill>
          <a:ln w="12700">
            <a:solidFill>
              <a:srgbClr val="F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5120640"/>
            <a:ext cx="3154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C94349"/>
                </a:solidFill>
                <a:latin typeface="PingFang SC"/>
              </a:rPr>
              <a:t>&lt; 60 分｜保持独立/待调查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1520" y="5961888"/>
            <a:ext cx="10698480" cy="47548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7824" y="6071616"/>
            <a:ext cx="10405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每次关联记录：规则版本、命中字段、分值、确认人、确认时间、原始快照。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核心难点与方案｜线上线下闭环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目标不是“一步到位全自动”，而是任何执行方式都进入同一状态机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554480"/>
            <a:ext cx="1600200" cy="1261872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810512"/>
            <a:ext cx="1325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2C68CD"/>
                </a:solidFill>
                <a:latin typeface="PingFang SC"/>
              </a:rPr>
              <a:t>申请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2258568"/>
            <a:ext cx="136245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本人 / 负责人 / HR 事件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39112" y="2185416"/>
            <a:ext cx="292608" cy="0"/>
          </a:xfrm>
          <a:prstGeom prst="line">
            <a:avLst/>
          </a:prstGeom>
          <a:ln w="1905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77440" y="1554480"/>
            <a:ext cx="1600200" cy="1261872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810512"/>
            <a:ext cx="1325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1D97BC"/>
                </a:solidFill>
                <a:latin typeface="PingFang SC"/>
              </a:rPr>
              <a:t>审批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6312" y="2258568"/>
            <a:ext cx="136245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直属 / 一级 / 财务负责人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77639" y="2185416"/>
            <a:ext cx="292609" cy="0"/>
          </a:xfrm>
          <a:prstGeom prst="line">
            <a:avLst/>
          </a:prstGeom>
          <a:ln w="19050">
            <a:solidFill>
              <a:srgbClr val="1D9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315968" y="1554480"/>
            <a:ext cx="1600200" cy="1261872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810512"/>
            <a:ext cx="1325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E28732"/>
                </a:solidFill>
                <a:latin typeface="PingFang SC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258568"/>
            <a:ext cx="136245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API 自动或线下待办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16168" y="2185416"/>
            <a:ext cx="292608" cy="0"/>
          </a:xfrm>
          <a:prstGeom prst="line">
            <a:avLst/>
          </a:prstGeom>
          <a:ln w="19050">
            <a:solidFill>
              <a:srgbClr val="E287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54496" y="1554480"/>
            <a:ext cx="1600200" cy="1261872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1810512"/>
            <a:ext cx="1325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E28732"/>
                </a:solidFill>
                <a:latin typeface="PingFang SC"/>
              </a:rPr>
              <a:t>回执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258568"/>
            <a:ext cx="136245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接口结果 / 截图 / 单号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54696" y="2185416"/>
            <a:ext cx="292608" cy="0"/>
          </a:xfrm>
          <a:prstGeom prst="line">
            <a:avLst/>
          </a:prstGeom>
          <a:ln w="19050">
            <a:solidFill>
              <a:srgbClr val="E287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93024" y="1554480"/>
            <a:ext cx="1600200" cy="1261872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1810512"/>
            <a:ext cx="1325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22946B"/>
                </a:solidFill>
                <a:latin typeface="PingFang SC"/>
              </a:rPr>
              <a:t>复核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2258568"/>
            <a:ext cx="136245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系统负责人或审计确认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793224" y="2185416"/>
            <a:ext cx="292608" cy="0"/>
          </a:xfrm>
          <a:prstGeom prst="line">
            <a:avLst/>
          </a:prstGeom>
          <a:ln w="19050">
            <a:solidFill>
              <a:srgbClr val="2294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131552" y="1554480"/>
            <a:ext cx="1600200" cy="1261872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F3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810512"/>
            <a:ext cx="1325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14274A"/>
                </a:solidFill>
                <a:latin typeface="PingFang SC"/>
              </a:rPr>
              <a:t>关闭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50424" y="2258568"/>
            <a:ext cx="136245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状态生效并写审计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429000"/>
            <a:ext cx="5074920" cy="205740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3703320"/>
            <a:ext cx="44805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900" b="1">
                <a:solidFill>
                  <a:srgbClr val="2C68CD"/>
                </a:solidFill>
                <a:latin typeface="PingFang SC"/>
              </a:rPr>
              <a:t>可接口系统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4233672"/>
            <a:ext cx="4480560" cy="1005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F3F"/>
                </a:solidFill>
                <a:latin typeface="PingFang SC"/>
              </a:defRPr>
            </a:pPr>
            <a:r>
              <a:t>• 自动调用开通/禁用 API</a:t>
            </a:r>
          </a:p>
          <a:p>
            <a:pPr>
              <a:spcAft>
                <a:spcPts val="800"/>
              </a:spcAft>
              <a:defRPr sz="1400">
                <a:solidFill>
                  <a:srgbClr val="232F3F"/>
                </a:solidFill>
                <a:latin typeface="PingFang SC"/>
              </a:defRPr>
            </a:pPr>
            <a:r>
              <a:t>• 失败重试并转人工待办</a:t>
            </a:r>
          </a:p>
          <a:p>
            <a:pPr>
              <a:spcAft>
                <a:spcPts val="800"/>
              </a:spcAft>
              <a:defRPr sz="1400">
                <a:solidFill>
                  <a:srgbClr val="232F3F"/>
                </a:solidFill>
                <a:latin typeface="PingFang SC"/>
              </a:defRPr>
            </a:pPr>
            <a:r>
              <a:t>• 回写外部单号与执行结果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3429000"/>
            <a:ext cx="5257800" cy="2057400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3703320"/>
            <a:ext cx="46634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900" b="1">
                <a:solidFill>
                  <a:srgbClr val="E28732"/>
                </a:solidFill>
                <a:latin typeface="PingFang SC"/>
              </a:rPr>
              <a:t>不可接口系统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4233672"/>
            <a:ext cx="4617720" cy="1005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F3F"/>
                </a:solidFill>
                <a:latin typeface="PingFang SC"/>
              </a:defRPr>
            </a:pPr>
            <a:r>
              <a:t>• 派发给系统负责人并设 SLA</a:t>
            </a:r>
          </a:p>
          <a:p>
            <a:pPr>
              <a:spcAft>
                <a:spcPts val="800"/>
              </a:spcAft>
              <a:defRPr sz="1400">
                <a:solidFill>
                  <a:srgbClr val="232F3F"/>
                </a:solidFill>
                <a:latin typeface="PingFang SC"/>
              </a:defRPr>
            </a:pPr>
            <a:r>
              <a:t>• 上传截图/导出结果/邮件回执</a:t>
            </a:r>
          </a:p>
          <a:p>
            <a:pPr>
              <a:spcAft>
                <a:spcPts val="800"/>
              </a:spcAft>
              <a:defRPr sz="1400">
                <a:solidFill>
                  <a:srgbClr val="232F3F"/>
                </a:solidFill>
                <a:latin typeface="PingFang SC"/>
              </a:defRPr>
            </a:pPr>
            <a:r>
              <a:t>• 逾期升级至负责人或一级领导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806440"/>
            <a:ext cx="10698480" cy="47548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" y="5916168"/>
            <a:ext cx="10405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北森离职事件可直接触发“全系统销户核查单”，未确认关闭的账号持续告警。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核心难点与方案｜成本权限治理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一期以导入和只读汇总为主，不改变业务系统现有鉴权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91840" cy="434340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2C68CD"/>
                </a:solidFill>
                <a:latin typeface="PingFang SC"/>
              </a:rPr>
              <a:t>权限目录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395728"/>
            <a:ext cx="274320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按用户查看跨系统权限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按系统查看角色与状态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保留每次导入快照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识别新增、删除、异常变化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291840" cy="4343400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73736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E28732"/>
                </a:solidFill>
                <a:latin typeface="PingFang SC"/>
              </a:rPr>
              <a:t>成本权限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395728"/>
            <a:ext cx="274320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查看采购成本等成本敏感权限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绑定业务用途与到期时间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要求更强审批和 Step-up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季度必须重新确认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17320"/>
            <a:ext cx="3291840" cy="4343400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73736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22946B"/>
                </a:solidFill>
                <a:latin typeface="PingFang SC"/>
              </a:rPr>
              <a:t>汇报责任链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2395728"/>
            <a:ext cx="274320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部门与负责人：支持人工指定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组织架构：从飞书或北森同步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一级领导：按组织关系自动推导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财务负责人：配置化维护</a:t>
            </a:r>
          </a:p>
          <a:p>
            <a:pPr>
              <a:spcAft>
                <a:spcPts val="800"/>
              </a:spcAft>
              <a:defRPr sz="1500">
                <a:solidFill>
                  <a:srgbClr val="232F3F"/>
                </a:solidFill>
                <a:latin typeface="PingFang SC"/>
              </a:defRPr>
            </a:pPr>
            <a:r>
              <a:t>• 汇报结果：保留签收与意见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989320"/>
            <a:ext cx="10698480" cy="475488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6099048"/>
            <a:ext cx="10405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E28732"/>
                </a:solidFill>
                <a:latin typeface="PingFang SC"/>
              </a:rPr>
              <a:t>当前样本：BIP、来酷 SCM、联想科技 SCM、联酷 SCM 共 181 条成本权限记录。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核心难点与方案｜个人数据与待办流转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邮件可以通知，但不能再作为唯一流程与证据载体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" y="1508760"/>
            <a:ext cx="1965960" cy="278892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783080"/>
            <a:ext cx="16916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2C68CD"/>
                </a:solidFill>
                <a:latin typeface="PingFang SC"/>
              </a:rPr>
              <a:t>员工 / 外部人员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2404872"/>
            <a:ext cx="1453896" cy="0"/>
          </a:xfrm>
          <a:prstGeom prst="line">
            <a:avLst/>
          </a:prstGeom>
          <a:ln w="1524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715768"/>
            <a:ext cx="16002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232F3F"/>
                </a:solidFill>
                <a:latin typeface="PingFang SC"/>
              </a:rPr>
              <a:t>发起申请
补充资料
查看进度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41448" y="2926080"/>
            <a:ext cx="274320" cy="0"/>
          </a:xfrm>
          <a:prstGeom prst="line">
            <a:avLst/>
          </a:prstGeom>
          <a:ln w="1778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07208" y="1508760"/>
            <a:ext cx="1965960" cy="278892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44368" y="1783080"/>
            <a:ext cx="16916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D97BC"/>
                </a:solidFill>
                <a:latin typeface="PingFang SC"/>
              </a:rPr>
              <a:t>直属负责人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63239" y="2404872"/>
            <a:ext cx="1453897" cy="0"/>
          </a:xfrm>
          <a:prstGeom prst="line">
            <a:avLst/>
          </a:prstGeom>
          <a:ln w="15240">
            <a:solidFill>
              <a:srgbClr val="1D9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90088" y="2715768"/>
            <a:ext cx="16002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232F3F"/>
                </a:solidFill>
                <a:latin typeface="PingFang SC"/>
              </a:rPr>
              <a:t>业务必要性
人员真实性
账号用途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73168" y="2926080"/>
            <a:ext cx="274320" cy="0"/>
          </a:xfrm>
          <a:prstGeom prst="line">
            <a:avLst/>
          </a:prstGeom>
          <a:ln w="1778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38927" y="1508760"/>
            <a:ext cx="1965960" cy="2788920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1783080"/>
            <a:ext cx="16916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E28732"/>
                </a:solidFill>
                <a:latin typeface="PingFang SC"/>
              </a:rPr>
              <a:t>一级领导 / 财务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59" y="2404872"/>
            <a:ext cx="1453896" cy="0"/>
          </a:xfrm>
          <a:prstGeom prst="line">
            <a:avLst/>
          </a:prstGeom>
          <a:ln w="15240">
            <a:solidFill>
              <a:srgbClr val="E287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321807" y="2715768"/>
            <a:ext cx="16002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232F3F"/>
                </a:solidFill>
                <a:latin typeface="PingFang SC"/>
              </a:rPr>
              <a:t>敏感权限
跨部门授权
例外确认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04888" y="2926080"/>
            <a:ext cx="274320" cy="0"/>
          </a:xfrm>
          <a:prstGeom prst="line">
            <a:avLst/>
          </a:prstGeom>
          <a:ln w="1778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470648" y="1508760"/>
            <a:ext cx="1965960" cy="2788920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07808" y="1783080"/>
            <a:ext cx="16916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22946B"/>
                </a:solidFill>
                <a:latin typeface="PingFang SC"/>
              </a:rPr>
              <a:t>系统负责人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26679" y="2404872"/>
            <a:ext cx="1453897" cy="0"/>
          </a:xfrm>
          <a:prstGeom prst="line">
            <a:avLst/>
          </a:prstGeom>
          <a:ln w="15240">
            <a:solidFill>
              <a:srgbClr val="2294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653527" y="2715768"/>
            <a:ext cx="16002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232F3F"/>
                </a:solidFill>
                <a:latin typeface="PingFang SC"/>
              </a:rPr>
              <a:t>执行开通/关闭
上传回执
异常说明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36608" y="2926080"/>
            <a:ext cx="274320" cy="0"/>
          </a:xfrm>
          <a:prstGeom prst="line">
            <a:avLst/>
          </a:prstGeom>
          <a:ln w="1778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802367" y="1508760"/>
            <a:ext cx="1965960" cy="2788920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F3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39528" y="1783080"/>
            <a:ext cx="16916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4274A"/>
                </a:solidFill>
                <a:latin typeface="PingFang SC"/>
              </a:rPr>
              <a:t>审计 / 管理员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058399" y="2404872"/>
            <a:ext cx="1453897" cy="0"/>
          </a:xfrm>
          <a:prstGeom prst="line">
            <a:avLst/>
          </a:prstGeom>
          <a:ln w="15240">
            <a:solidFill>
              <a:srgbClr val="142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985247" y="2715768"/>
            <a:ext cx="16002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232F3F"/>
                </a:solidFill>
                <a:latin typeface="PingFang SC"/>
              </a:rPr>
              <a:t>抽检证据
催办升级
生成报告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709160"/>
            <a:ext cx="10698480" cy="987552"/>
          </a:xfrm>
          <a:prstGeom prst="roundRect">
            <a:avLst/>
          </a:prstGeom>
          <a:solidFill>
            <a:srgbClr val="FCECEE"/>
          </a:solidFill>
          <a:ln w="12700">
            <a:solidFill>
              <a:srgbClr val="F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" y="5010912"/>
            <a:ext cx="1143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C94349"/>
                </a:solidFill>
                <a:latin typeface="PingFang SC"/>
              </a:rPr>
              <a:t>隐私控制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4974336"/>
            <a:ext cx="85039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字段最小化、分级脱敏、按角色授权、下载水印、导出审批、访问审计、到期删除/匿名化。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943600"/>
            <a:ext cx="10698480" cy="47548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6053328"/>
            <a:ext cx="10405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负责人或上级拥有“代办、催办、转交、确认”能力；离职时其名下待办与资产自动转交。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核心难点与方案｜团队账号管理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管理范围来自飞书/北森组织关系及人工指定责任范围，支持单人和批量操作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2359152" cy="224028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91640"/>
            <a:ext cx="202996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2C68CD"/>
                </a:solidFill>
                <a:latin typeface="PingFang SC"/>
              </a:rPr>
              <a:t>管理范围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1993392" cy="9875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232F3F"/>
                </a:solidFill>
                <a:latin typeface="PingFang SC"/>
              </a:rPr>
              <a:t>直属人员
下属部门人员
指定代管人员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417320"/>
            <a:ext cx="2359152" cy="2240280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1691640"/>
            <a:ext cx="202996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22946B"/>
                </a:solidFill>
                <a:latin typeface="PingFang SC"/>
              </a:rPr>
              <a:t>账号操作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331720"/>
            <a:ext cx="1993392" cy="9875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232F3F"/>
                </a:solidFill>
                <a:latin typeface="PingFang SC"/>
              </a:rPr>
              <a:t>新建账号
申请延期
关闭账号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17320"/>
            <a:ext cx="2359152" cy="2240280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691640"/>
            <a:ext cx="202996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E28732"/>
                </a:solidFill>
                <a:latin typeface="PingFang SC"/>
              </a:rPr>
              <a:t>系统准入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31720"/>
            <a:ext cx="1993392" cy="9875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232F3F"/>
                </a:solidFill>
                <a:latin typeface="PingFang SC"/>
              </a:rPr>
              <a:t>可登录系统
认证有效期
批量授权/回收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80" y="1417320"/>
            <a:ext cx="2359152" cy="2240280"/>
          </a:xfrm>
          <a:prstGeom prst="roundRect">
            <a:avLst/>
          </a:prstGeom>
          <a:solidFill>
            <a:srgbClr val="FCECEE"/>
          </a:solidFill>
          <a:ln w="12700">
            <a:solidFill>
              <a:srgbClr val="F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62872" y="1691640"/>
            <a:ext cx="202996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C94349"/>
                </a:solidFill>
                <a:latin typeface="PingFang SC"/>
              </a:rPr>
              <a:t>控制边界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59" y="2331720"/>
            <a:ext cx="1993392" cy="9875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232F3F"/>
                </a:solidFill>
                <a:latin typeface="PingFang SC"/>
              </a:rPr>
              <a:t>说明业务理由
高风险需审批
全量审计留痕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005072"/>
            <a:ext cx="1828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4274A"/>
                </a:solidFill>
                <a:latin typeface="PingFang SC"/>
              </a:rPr>
              <a:t>批量操作流程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480560"/>
            <a:ext cx="1572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68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19" y="4718304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2C68CD"/>
                </a:solidFill>
                <a:latin typeface="PingFang SC"/>
              </a:rPr>
              <a:t>选择人员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" y="5111496"/>
            <a:ext cx="13898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57284"/>
                </a:solidFill>
                <a:latin typeface="PingFang SC"/>
              </a:rPr>
              <a:t>组织/部门/名单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212848" y="5010912"/>
            <a:ext cx="274320" cy="0"/>
          </a:xfrm>
          <a:prstGeom prst="line">
            <a:avLst/>
          </a:prstGeom>
          <a:ln w="1778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542032" y="4480560"/>
            <a:ext cx="1572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97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33472" y="4718304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D97BC"/>
                </a:solidFill>
                <a:latin typeface="PingFang SC"/>
              </a:rPr>
              <a:t>选择操作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3472" y="5111496"/>
            <a:ext cx="13898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57284"/>
                </a:solidFill>
                <a:latin typeface="PingFang SC"/>
              </a:rPr>
              <a:t>开通/延期/关闭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114800" y="5010912"/>
            <a:ext cx="274320" cy="0"/>
          </a:xfrm>
          <a:prstGeom prst="line">
            <a:avLst/>
          </a:prstGeom>
          <a:ln w="17780">
            <a:solidFill>
              <a:srgbClr val="1D9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443984" y="4480560"/>
            <a:ext cx="1572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8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5424" y="4718304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E28732"/>
                </a:solidFill>
                <a:latin typeface="PingFang SC"/>
              </a:rPr>
              <a:t>配置策略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5424" y="5111496"/>
            <a:ext cx="13898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57284"/>
                </a:solidFill>
                <a:latin typeface="PingFang SC"/>
              </a:rPr>
              <a:t>系统/角色/有效期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16752" y="5010912"/>
            <a:ext cx="274320" cy="0"/>
          </a:xfrm>
          <a:prstGeom prst="line">
            <a:avLst/>
          </a:prstGeom>
          <a:ln w="17780">
            <a:solidFill>
              <a:srgbClr val="E287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345936" y="4480560"/>
            <a:ext cx="1572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43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37376" y="4718304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C94349"/>
                </a:solidFill>
                <a:latin typeface="PingFang SC"/>
              </a:rPr>
              <a:t>风险校验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5111496"/>
            <a:ext cx="13898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57284"/>
                </a:solidFill>
                <a:latin typeface="PingFang SC"/>
              </a:rPr>
              <a:t>范围/冲突/敏感项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918704" y="5010912"/>
            <a:ext cx="274320" cy="0"/>
          </a:xfrm>
          <a:prstGeom prst="line">
            <a:avLst/>
          </a:prstGeom>
          <a:ln w="17780">
            <a:solidFill>
              <a:srgbClr val="C943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247888" y="4480560"/>
            <a:ext cx="1572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94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39327" y="4718304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22946B"/>
                </a:solidFill>
                <a:latin typeface="PingFang SC"/>
              </a:rPr>
              <a:t>审批执行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9327" y="5111496"/>
            <a:ext cx="13898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57284"/>
                </a:solidFill>
                <a:latin typeface="PingFang SC"/>
              </a:rPr>
              <a:t>API 或线下待办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820656" y="5010912"/>
            <a:ext cx="274320" cy="0"/>
          </a:xfrm>
          <a:prstGeom prst="line">
            <a:avLst/>
          </a:prstGeom>
          <a:ln w="17780">
            <a:solidFill>
              <a:srgbClr val="2294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149840" y="4480560"/>
            <a:ext cx="1572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27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41280" y="4718304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4274A"/>
                </a:solidFill>
                <a:latin typeface="PingFang SC"/>
              </a:rPr>
              <a:t>结果回执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5111496"/>
            <a:ext cx="13898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57284"/>
                </a:solidFill>
                <a:latin typeface="PingFang SC"/>
              </a:rPr>
              <a:t>成功/失败/证据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806440"/>
            <a:ext cx="10698480" cy="475488"/>
          </a:xfrm>
          <a:prstGeom prst="roundRect">
            <a:avLst/>
          </a:prstGeom>
          <a:solidFill>
            <a:srgbClr val="FCECEE"/>
          </a:solidFill>
          <a:ln w="12700">
            <a:solidFill>
              <a:srgbClr val="F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5916168"/>
            <a:ext cx="10405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C94349"/>
                </a:solidFill>
                <a:latin typeface="PingFang SC"/>
              </a:rPr>
              <a:t>成本查看权限不能直接批量授予：负责人发起后，仍需一级领导和财务负责人复核。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核心难点与方案｜季度审计闭环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每个季度生成一次基线、差异、责任确认和销户证明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" y="1508760"/>
            <a:ext cx="1591056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68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783080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2C68CD"/>
                </a:solidFill>
                <a:latin typeface="PingFang SC"/>
              </a:rPr>
              <a:t>1. 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2221992"/>
            <a:ext cx="13716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接口拉取 + 文件导入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66543" y="2130552"/>
            <a:ext cx="292609" cy="0"/>
          </a:xfrm>
          <a:prstGeom prst="line">
            <a:avLst/>
          </a:prstGeom>
          <a:ln w="1905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14016" y="1508760"/>
            <a:ext cx="1591056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97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23744" y="1783080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D97BC"/>
                </a:solidFill>
                <a:latin typeface="PingFang SC"/>
              </a:rPr>
              <a:t>2. 归一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3744" y="2221992"/>
            <a:ext cx="13716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字段映射与身份关联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05072" y="2130552"/>
            <a:ext cx="292608" cy="0"/>
          </a:xfrm>
          <a:prstGeom prst="line">
            <a:avLst/>
          </a:prstGeom>
          <a:ln w="19050">
            <a:solidFill>
              <a:srgbClr val="1D9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352544" y="1508760"/>
            <a:ext cx="1591056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8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783080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E28732"/>
                </a:solidFill>
                <a:latin typeface="PingFang SC"/>
              </a:rPr>
              <a:t>3. 比对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2221992"/>
            <a:ext cx="13716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上期、本期、在职名单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2130552"/>
            <a:ext cx="292608" cy="0"/>
          </a:xfrm>
          <a:prstGeom prst="line">
            <a:avLst/>
          </a:prstGeom>
          <a:ln w="19050">
            <a:solidFill>
              <a:srgbClr val="E287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91072" y="1508760"/>
            <a:ext cx="1591056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8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83080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E28732"/>
                </a:solidFill>
                <a:latin typeface="PingFang SC"/>
              </a:rPr>
              <a:t>4. 确认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221992"/>
            <a:ext cx="13716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负责人/一级领导/财务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82128" y="2130552"/>
            <a:ext cx="292608" cy="0"/>
          </a:xfrm>
          <a:prstGeom prst="line">
            <a:avLst/>
          </a:prstGeom>
          <a:ln w="19050">
            <a:solidFill>
              <a:srgbClr val="E287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29600" y="1508760"/>
            <a:ext cx="1591056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94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1783080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22946B"/>
                </a:solidFill>
                <a:latin typeface="PingFang SC"/>
              </a:rPr>
              <a:t>5. 整改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221992"/>
            <a:ext cx="13716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关闭、调整、补证据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820656" y="2130552"/>
            <a:ext cx="292608" cy="0"/>
          </a:xfrm>
          <a:prstGeom prst="line">
            <a:avLst/>
          </a:prstGeom>
          <a:ln w="19050">
            <a:solidFill>
              <a:srgbClr val="2294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168128" y="1508760"/>
            <a:ext cx="1591056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27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77856" y="1783080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4274A"/>
                </a:solidFill>
                <a:latin typeface="PingFang SC"/>
              </a:rPr>
              <a:t>6. 汇报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7856" y="2221992"/>
            <a:ext cx="13716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完成率、逾期、风险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364992"/>
            <a:ext cx="3246120" cy="193852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3675887"/>
            <a:ext cx="2697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2C68CD"/>
                </a:solidFill>
                <a:latin typeface="PingFang SC"/>
              </a:rPr>
              <a:t>离职核验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24528"/>
            <a:ext cx="2697480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北森离职单触发
逐系统确认关闭
存在账号 = 风险未清零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62272" y="3364992"/>
            <a:ext cx="3246120" cy="1938528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6592" y="3675887"/>
            <a:ext cx="2697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E28732"/>
                </a:solidFill>
                <a:latin typeface="PingFang SC"/>
              </a:rPr>
              <a:t>新增与外部账号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6592" y="4224528"/>
            <a:ext cx="2697480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新账号自动进入认领
外部账号绑定 sponsor
到期前 7/3/1 天提醒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3364992"/>
            <a:ext cx="3246120" cy="1938528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3675887"/>
            <a:ext cx="2697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22946B"/>
                </a:solidFill>
                <a:latin typeface="PingFang SC"/>
              </a:rPr>
              <a:t>管理指标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4224528"/>
            <a:ext cx="2697480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核查覆盖率 / 确认率
逾期账号数 / 平均关闭时长
成本权限复核率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5852160"/>
            <a:ext cx="10698480" cy="47548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" y="5961888"/>
            <a:ext cx="10405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最终产出：按系统、部门、责任人和风险等级生成可追溯汇报包。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核心难点与方案｜季度核查流程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核查全体用户的全部系统账号；敏感权限当前范围仅包含成本查看权限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89888"/>
            <a:ext cx="1298448" cy="1170432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2C68CD"/>
                </a:solidFill>
                <a:latin typeface="PingFang SC"/>
              </a:rPr>
              <a:t>系统 / 数据层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807208"/>
            <a:ext cx="1298448" cy="1170432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E28732"/>
                </a:solidFill>
                <a:latin typeface="PingFang SC"/>
              </a:rPr>
              <a:t>用户与负责人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24528"/>
            <a:ext cx="1298448" cy="1170432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22946B"/>
                </a:solidFill>
                <a:latin typeface="PingFang SC"/>
              </a:rPr>
              <a:t>系统负责人 / 审计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12848" y="1389888"/>
            <a:ext cx="1874519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68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22576" y="1591056"/>
            <a:ext cx="165506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2C68CD"/>
                </a:solidFill>
                <a:latin typeface="PingFang SC"/>
              </a:rPr>
              <a:t>启动季度任务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2576" y="2057400"/>
            <a:ext cx="165506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冻结核查范围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87368" y="1975104"/>
            <a:ext cx="338328" cy="0"/>
          </a:xfrm>
          <a:prstGeom prst="line">
            <a:avLst/>
          </a:prstGeom>
          <a:ln w="1778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517136" y="1389888"/>
            <a:ext cx="1874519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68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591056"/>
            <a:ext cx="165506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2C68CD"/>
                </a:solidFill>
                <a:latin typeface="PingFang SC"/>
              </a:rPr>
              <a:t>采集全量快照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165506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账号 + 成本权限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91655" y="1975104"/>
            <a:ext cx="338328" cy="0"/>
          </a:xfrm>
          <a:prstGeom prst="line">
            <a:avLst/>
          </a:prstGeom>
          <a:ln w="1778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21424" y="1389888"/>
            <a:ext cx="1874519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68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1591056"/>
            <a:ext cx="165506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2C68CD"/>
                </a:solidFill>
                <a:latin typeface="PingFang SC"/>
              </a:rPr>
              <a:t>身份归集比对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2057400"/>
            <a:ext cx="165506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本期 / 上期 / 在职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95944" y="1975104"/>
            <a:ext cx="338328" cy="0"/>
          </a:xfrm>
          <a:prstGeom prst="line">
            <a:avLst/>
          </a:prstGeom>
          <a:ln w="1778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25712" y="1389888"/>
            <a:ext cx="1874519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68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1591056"/>
            <a:ext cx="165506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2C68CD"/>
                </a:solidFill>
                <a:latin typeface="PingFang SC"/>
              </a:rPr>
              <a:t>生成个人核查包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057400"/>
            <a:ext cx="165506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按用户汇总所有系统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204704" y="2560320"/>
            <a:ext cx="0" cy="219456"/>
          </a:xfrm>
          <a:prstGeom prst="line">
            <a:avLst/>
          </a:prstGeom>
          <a:ln w="1778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212848" y="2807208"/>
            <a:ext cx="1874519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8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3008376"/>
            <a:ext cx="165506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E28732"/>
                </a:solidFill>
                <a:latin typeface="PingFang SC"/>
              </a:rPr>
              <a:t>用户本人确认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3474720"/>
            <a:ext cx="165506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本人账号 / 非本人 / 不再需要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87368" y="3392424"/>
            <a:ext cx="338328" cy="0"/>
          </a:xfrm>
          <a:prstGeom prst="line">
            <a:avLst/>
          </a:prstGeom>
          <a:ln w="17780">
            <a:solidFill>
              <a:srgbClr val="E287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517136" y="2807208"/>
            <a:ext cx="1874519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8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008376"/>
            <a:ext cx="165506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E28732"/>
                </a:solidFill>
                <a:latin typeface="PingFang SC"/>
              </a:rPr>
              <a:t>直接负责人复核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6864" y="3474720"/>
            <a:ext cx="165506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账号必要性与用途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391655" y="3392424"/>
            <a:ext cx="338328" cy="0"/>
          </a:xfrm>
          <a:prstGeom prst="line">
            <a:avLst/>
          </a:prstGeom>
          <a:ln w="17780">
            <a:solidFill>
              <a:srgbClr val="E287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821424" y="2807208"/>
            <a:ext cx="1874519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8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31152" y="3008376"/>
            <a:ext cx="165506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E28732"/>
                </a:solidFill>
                <a:latin typeface="PingFang SC"/>
              </a:rPr>
              <a:t>成本权限加签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3474720"/>
            <a:ext cx="165506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一级领导 + 财务负责人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95944" y="3392424"/>
            <a:ext cx="338328" cy="0"/>
          </a:xfrm>
          <a:prstGeom prst="line">
            <a:avLst/>
          </a:prstGeom>
          <a:ln w="17780">
            <a:solidFill>
              <a:srgbClr val="E287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125712" y="2807208"/>
            <a:ext cx="1874519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8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35440" y="3008376"/>
            <a:ext cx="165506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E28732"/>
                </a:solidFill>
                <a:latin typeface="PingFang SC"/>
              </a:rPr>
              <a:t>形成整改意见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3474720"/>
            <a:ext cx="165506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保留 / 关闭 / 调整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204704" y="3977640"/>
            <a:ext cx="0" cy="219456"/>
          </a:xfrm>
          <a:prstGeom prst="line">
            <a:avLst/>
          </a:prstGeom>
          <a:ln w="1778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2212848" y="4224528"/>
            <a:ext cx="1874519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94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22576" y="4425696"/>
            <a:ext cx="165506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22946B"/>
                </a:solidFill>
                <a:latin typeface="PingFang SC"/>
              </a:rPr>
              <a:t>派发整改任务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22576" y="4892040"/>
            <a:ext cx="165506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API 自动或线下待办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087368" y="4809744"/>
            <a:ext cx="338328" cy="0"/>
          </a:xfrm>
          <a:prstGeom prst="line">
            <a:avLst/>
          </a:prstGeom>
          <a:ln w="17780">
            <a:solidFill>
              <a:srgbClr val="2294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517136" y="4224528"/>
            <a:ext cx="1874519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94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26864" y="4425696"/>
            <a:ext cx="165506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22946B"/>
                </a:solidFill>
                <a:latin typeface="PingFang SC"/>
              </a:rPr>
              <a:t>执行并回传证据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6864" y="4892040"/>
            <a:ext cx="165506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结果 / 截图 / 外部单号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391655" y="4809744"/>
            <a:ext cx="338328" cy="0"/>
          </a:xfrm>
          <a:prstGeom prst="line">
            <a:avLst/>
          </a:prstGeom>
          <a:ln w="17780">
            <a:solidFill>
              <a:srgbClr val="2294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821424" y="4224528"/>
            <a:ext cx="1874519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94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31152" y="4425696"/>
            <a:ext cx="165506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22946B"/>
                </a:solidFill>
                <a:latin typeface="PingFang SC"/>
              </a:rPr>
              <a:t>复核闭环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892040"/>
            <a:ext cx="165506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未关闭持续催办升级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695944" y="4809744"/>
            <a:ext cx="338328" cy="0"/>
          </a:xfrm>
          <a:prstGeom prst="line">
            <a:avLst/>
          </a:prstGeom>
          <a:ln w="17780">
            <a:solidFill>
              <a:srgbClr val="2294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9125712" y="4224528"/>
            <a:ext cx="1874519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294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35440" y="4425696"/>
            <a:ext cx="165506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22946B"/>
                </a:solidFill>
                <a:latin typeface="PingFang SC"/>
              </a:rPr>
              <a:t>归档与汇报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892040"/>
            <a:ext cx="165506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57284"/>
                </a:solidFill>
                <a:latin typeface="PingFang SC"/>
              </a:rPr>
              <a:t>报告 + 签收 + 证据包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5742432"/>
            <a:ext cx="10698480" cy="566928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F3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1832" y="5916168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4274A"/>
                </a:solidFill>
                <a:latin typeface="PingFang SC"/>
              </a:rPr>
              <a:t>关键分支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56231" y="5879592"/>
            <a:ext cx="9098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32F3F"/>
                </a:solidFill>
                <a:latin typeface="PingFang SC"/>
              </a:rPr>
              <a:t>普通账号：本人确认 → 直接负责人复核；成本权限：追加一级领导与财务负责人；离职人员：跳过本人确认，直接进入跨系统清零。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技术实现与一期计划｜技术架构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沿用 Logto/OIDC 方案基础，新增身份治理、工作流和对账能力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53312"/>
            <a:ext cx="10835640" cy="658368"/>
          </a:xfrm>
          <a:prstGeom prst="roundRect">
            <a:avLst/>
          </a:prstGeom>
          <a:solidFill>
            <a:srgbClr val="14274A"/>
          </a:solidFill>
          <a:ln w="12700">
            <a:solidFill>
              <a:srgbClr val="1427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10287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PingFang SC"/>
              </a:rPr>
              <a:t>登录门户    个人中心    管理后台    审计报表    OpenAPI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9048" y="2011680"/>
            <a:ext cx="0" cy="320040"/>
          </a:xfrm>
          <a:prstGeom prst="line">
            <a:avLst/>
          </a:prstGeom>
          <a:ln w="2032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2331720"/>
            <a:ext cx="2423160" cy="123444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542032"/>
            <a:ext cx="2084831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2C68CD"/>
                </a:solidFill>
                <a:latin typeface="PingFang SC"/>
              </a:rPr>
              <a:t>认证服务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926080"/>
            <a:ext cx="2084831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232F3F"/>
                </a:solidFill>
                <a:latin typeface="PingFang SC"/>
              </a:rPr>
              <a:t>Logto / OIDC
MFA / WebAuthn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331720"/>
            <a:ext cx="2423160" cy="1234440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2542032"/>
            <a:ext cx="2084831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22946B"/>
                </a:solidFill>
                <a:latin typeface="PingFang SC"/>
              </a:rPr>
              <a:t>身份治理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926080"/>
            <a:ext cx="2084831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232F3F"/>
                </a:solidFill>
                <a:latin typeface="PingFang SC"/>
              </a:rPr>
              <a:t>Person / Account
匹配与冲突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331720"/>
            <a:ext cx="2423160" cy="1234440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2542032"/>
            <a:ext cx="2084831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E28732"/>
                </a:solidFill>
                <a:latin typeface="PingFang SC"/>
              </a:rPr>
              <a:t>流程中心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926080"/>
            <a:ext cx="2084831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232F3F"/>
                </a:solidFill>
                <a:latin typeface="PingFang SC"/>
              </a:rPr>
              <a:t>申请 / 审批
待办 / SLA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331720"/>
            <a:ext cx="2423160" cy="1234440"/>
          </a:xfrm>
          <a:prstGeom prst="roundRect">
            <a:avLst/>
          </a:prstGeom>
          <a:solidFill>
            <a:srgbClr val="FCECEE"/>
          </a:solidFill>
          <a:ln w="12700">
            <a:solidFill>
              <a:srgbClr val="F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9992" y="2542032"/>
            <a:ext cx="2084831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C94349"/>
                </a:solidFill>
                <a:latin typeface="PingFang SC"/>
              </a:rPr>
              <a:t>审计对账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92" y="2926080"/>
            <a:ext cx="2084831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232F3F"/>
                </a:solidFill>
                <a:latin typeface="PingFang SC"/>
              </a:rPr>
              <a:t>快照 / 差异
季度复核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9048" y="3566160"/>
            <a:ext cx="0" cy="292608"/>
          </a:xfrm>
          <a:prstGeom prst="line">
            <a:avLst/>
          </a:prstGeom>
          <a:ln w="2032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3858768"/>
            <a:ext cx="10835640" cy="658368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050791"/>
            <a:ext cx="10378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14274A"/>
                </a:solidFill>
                <a:latin typeface="PingFang SC"/>
              </a:rPr>
              <a:t>PostgreSQL（治理/审计分区）   Redis（限流/任务）   对象存储（回执证据）   消息队列（事件）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892040"/>
            <a:ext cx="242316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065776"/>
            <a:ext cx="685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657284"/>
                </a:solidFill>
                <a:latin typeface="PingFang SC"/>
              </a:rPr>
              <a:t>主数据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5029200"/>
            <a:ext cx="1417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232F3F"/>
                </a:solidFill>
                <a:latin typeface="PingFang SC"/>
              </a:rPr>
              <a:t>OA / 飞书 / 北森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4892040"/>
            <a:ext cx="242316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5065776"/>
            <a:ext cx="685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657284"/>
                </a:solidFill>
                <a:latin typeface="PingFang SC"/>
              </a:rPr>
              <a:t>业务系统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029200"/>
            <a:ext cx="1417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232F3F"/>
                </a:solidFill>
                <a:latin typeface="PingFang SC"/>
              </a:rPr>
              <a:t>OIDC / API / 文件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892040"/>
            <a:ext cx="242316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5065776"/>
            <a:ext cx="685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657284"/>
                </a:solidFill>
                <a:latin typeface="PingFang SC"/>
              </a:rPr>
              <a:t>协同审批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22592" y="5029200"/>
            <a:ext cx="1417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232F3F"/>
                </a:solidFill>
                <a:latin typeface="PingFang SC"/>
              </a:rPr>
              <a:t>飞书 / OA / 邮件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15400" y="4892040"/>
            <a:ext cx="242316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5065776"/>
            <a:ext cx="685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657284"/>
                </a:solidFill>
                <a:latin typeface="PingFang SC"/>
              </a:rPr>
              <a:t>通知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5792" y="5029200"/>
            <a:ext cx="1417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232F3F"/>
                </a:solidFill>
                <a:latin typeface="PingFang SC"/>
              </a:rPr>
              <a:t>IM / 短信 / 邮箱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5925312"/>
            <a:ext cx="10698480" cy="47548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" y="6035040"/>
            <a:ext cx="10405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安全边界：凭证只存认证服务；业务系统保留本地授权；审计事件只增不改。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技术实现与一期计划｜核心数据模型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满足一人多账号、共享账号、外部人员、历史快照和人工确认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2148840" cy="123444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377440"/>
            <a:ext cx="1874519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2C68CD"/>
                </a:solidFill>
                <a:latin typeface="PingFang SC"/>
              </a:rPr>
              <a:t>Person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752344"/>
            <a:ext cx="1874519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232F3F"/>
                </a:solidFill>
                <a:latin typeface="PingFang SC"/>
              </a:rPr>
              <a:t>统一身份
员工/外部/服务身份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371600"/>
            <a:ext cx="2148840" cy="1234440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554480"/>
            <a:ext cx="1874519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22946B"/>
                </a:solidFill>
                <a:latin typeface="PingFang SC"/>
              </a:rPr>
              <a:t>Account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929384"/>
            <a:ext cx="1874519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232F3F"/>
                </a:solidFill>
                <a:latin typeface="PingFang SC"/>
              </a:rPr>
              <a:t>系统账号
状态/最后登录/有效期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3154680"/>
            <a:ext cx="2148840" cy="123444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3337560"/>
            <a:ext cx="1874519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D97BC"/>
                </a:solidFill>
                <a:latin typeface="PingFang SC"/>
              </a:rPr>
              <a:t>Access Grant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712464"/>
            <a:ext cx="1874519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232F3F"/>
                </a:solidFill>
                <a:latin typeface="PingFang SC"/>
              </a:rPr>
              <a:t>系统准入
策略/审批/到期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1371600"/>
            <a:ext cx="2148840" cy="1234440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1554480"/>
            <a:ext cx="1874519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E28732"/>
                </a:solidFill>
                <a:latin typeface="PingFang SC"/>
              </a:rPr>
              <a:t>Permission Snapshot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1929384"/>
            <a:ext cx="1874519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232F3F"/>
                </a:solidFill>
                <a:latin typeface="PingFang SC"/>
              </a:rPr>
              <a:t>权限快照
普通/特殊/来源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3154680"/>
            <a:ext cx="2148840" cy="1234440"/>
          </a:xfrm>
          <a:prstGeom prst="roundRect">
            <a:avLst/>
          </a:prstGeom>
          <a:solidFill>
            <a:srgbClr val="FCECEE"/>
          </a:solidFill>
          <a:ln w="12700">
            <a:solidFill>
              <a:srgbClr val="F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0" y="3337560"/>
            <a:ext cx="1874519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C94349"/>
                </a:solidFill>
                <a:latin typeface="PingFang SC"/>
              </a:rPr>
              <a:t>Responsibility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712464"/>
            <a:ext cx="1874519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232F3F"/>
                </a:solidFill>
                <a:latin typeface="PingFang SC"/>
              </a:rPr>
              <a:t>责任链
直属/一级/财务/sponsor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58200" y="2194560"/>
            <a:ext cx="2148840" cy="1234440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F3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2377440"/>
            <a:ext cx="1874519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4274A"/>
                </a:solidFill>
                <a:latin typeface="PingFang SC"/>
              </a:rPr>
              <a:t>Evidence &amp; 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2752344"/>
            <a:ext cx="1874519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232F3F"/>
                </a:solidFill>
                <a:latin typeface="PingFang SC"/>
              </a:rPr>
              <a:t>证据与审计
回执/规则/确认/事件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2807208" y="1984248"/>
            <a:ext cx="164592" cy="822960"/>
          </a:xfrm>
          <a:prstGeom prst="line">
            <a:avLst/>
          </a:prstGeom>
          <a:ln w="2032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807208" y="2807208"/>
            <a:ext cx="164592" cy="960120"/>
          </a:xfrm>
          <a:prstGeom prst="line">
            <a:avLst/>
          </a:prstGeom>
          <a:ln w="20320">
            <a:solidFill>
              <a:srgbClr val="2C68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120640" y="1984248"/>
            <a:ext cx="594360" cy="0"/>
          </a:xfrm>
          <a:prstGeom prst="line">
            <a:avLst/>
          </a:prstGeom>
          <a:ln w="20320">
            <a:solidFill>
              <a:srgbClr val="2294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120640" y="3767328"/>
            <a:ext cx="594360" cy="0"/>
          </a:xfrm>
          <a:prstGeom prst="line">
            <a:avLst/>
          </a:prstGeom>
          <a:ln w="20320">
            <a:solidFill>
              <a:srgbClr val="1D9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1984248"/>
            <a:ext cx="594360" cy="822960"/>
          </a:xfrm>
          <a:prstGeom prst="line">
            <a:avLst/>
          </a:prstGeom>
          <a:ln w="20320">
            <a:solidFill>
              <a:srgbClr val="E287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863840" y="2807208"/>
            <a:ext cx="594360" cy="960120"/>
          </a:xfrm>
          <a:prstGeom prst="line">
            <a:avLst/>
          </a:prstGeom>
          <a:ln w="20320">
            <a:solidFill>
              <a:srgbClr val="C943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31520" y="4892040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" y="5148072"/>
            <a:ext cx="101955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14274A"/>
                </a:solidFill>
                <a:latin typeface="PingFang SC"/>
              </a:rPr>
              <a:t>Identity Link 单独建表：source_account_id + person_id + score + matched_fields + rule_version + confirmed_by + valid_time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907024"/>
            <a:ext cx="10698480" cy="47548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6016752"/>
            <a:ext cx="10405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所有来源表保留 raw snapshot；统一字段是治理视图，不覆盖源系统事实。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技术实现与一期计划｜一期建设范围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接口与手工并存，优先覆盖内审高频系统与成本权限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89888"/>
            <a:ext cx="6629400" cy="4434840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60350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22946B"/>
                </a:solidFill>
                <a:latin typeface="PingFang SC"/>
              </a:rPr>
              <a:t>一期必须交付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313432"/>
            <a:ext cx="6035040" cy="2926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32F3F"/>
                </a:solidFill>
                <a:latin typeface="PingFang SC"/>
              </a:defRPr>
            </a:pPr>
            <a:r>
              <a:t>• 登录门户：密码、邮箱/手机验证码、MFA；飞书联合登录</a:t>
            </a:r>
          </a:p>
          <a:p>
            <a:pPr>
              <a:spcAft>
                <a:spcPts val="800"/>
              </a:spcAft>
              <a:defRPr sz="1400">
                <a:solidFill>
                  <a:srgbClr val="232F3F"/>
                </a:solidFill>
                <a:latin typeface="PingFang SC"/>
              </a:defRPr>
            </a:pPr>
            <a:r>
              <a:t>• OIDC 接入模板：系统注册、回调白名单、secret 轮换</a:t>
            </a:r>
          </a:p>
          <a:p>
            <a:pPr>
              <a:spcAft>
                <a:spcPts val="800"/>
              </a:spcAft>
              <a:defRPr sz="1400">
                <a:solidFill>
                  <a:srgbClr val="232F3F"/>
                </a:solidFill>
                <a:latin typeface="PingFang SC"/>
              </a:defRPr>
            </a:pPr>
            <a:r>
              <a:t>• 统一身份主档：Excel 导入、字段映射、匹配分流、人工捏对</a:t>
            </a:r>
          </a:p>
          <a:p>
            <a:pPr>
              <a:spcAft>
                <a:spcPts val="800"/>
              </a:spcAft>
              <a:defRPr sz="1400">
                <a:solidFill>
                  <a:srgbClr val="232F3F"/>
                </a:solidFill>
                <a:latin typeface="PingFang SC"/>
              </a:defRPr>
            </a:pPr>
            <a:r>
              <a:t>• 账号/权限目录：系统准入、有效期、权限快照、成本权限</a:t>
            </a:r>
          </a:p>
          <a:p>
            <a:pPr>
              <a:spcAft>
                <a:spcPts val="800"/>
              </a:spcAft>
              <a:defRPr sz="1400">
                <a:solidFill>
                  <a:srgbClr val="232F3F"/>
                </a:solidFill>
                <a:latin typeface="PingFang SC"/>
              </a:defRPr>
            </a:pPr>
            <a:r>
              <a:t>• 待办闭环：开通、变更、关闭、季度复核，支持线下回执</a:t>
            </a:r>
          </a:p>
          <a:p>
            <a:pPr>
              <a:spcAft>
                <a:spcPts val="800"/>
              </a:spcAft>
              <a:defRPr sz="1400">
                <a:solidFill>
                  <a:srgbClr val="232F3F"/>
                </a:solidFill>
                <a:latin typeface="PingFang SC"/>
              </a:defRPr>
            </a:pPr>
            <a:r>
              <a:t>• 审计与报表：离职销户核查、成本权限责任链汇报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389888"/>
            <a:ext cx="3703320" cy="2039112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691640"/>
            <a:ext cx="3154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900" b="1">
                <a:solidFill>
                  <a:srgbClr val="E28732"/>
                </a:solidFill>
                <a:latin typeface="PingFang SC"/>
              </a:rPr>
              <a:t>一期建议试点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240280"/>
            <a:ext cx="315468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32F3F"/>
                </a:solidFill>
                <a:latin typeface="PingFang SC"/>
              </a:rPr>
              <a:t>5 个账号治理系统
2 个 OIDC 登录接入系统
4 套成本权限清单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3794760"/>
            <a:ext cx="3703320" cy="2029968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F3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4096512"/>
            <a:ext cx="3154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4274A"/>
                </a:solidFill>
                <a:latin typeface="PingFang SC"/>
              </a:rPr>
              <a:t>暂缓到二期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645152"/>
            <a:ext cx="315468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企业微信/北森联合登录扩展
更多系统自动开关账号
高级风险模型与移动 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16752"/>
            <a:ext cx="10698480" cy="47548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6126480"/>
            <a:ext cx="10405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试点系统按“风险高、数据可得、负责人配合、接口代表性”四项评分选择。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技术实现与一期计划｜实施路线图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扩展后的治理范围明显大于原统一登录 MVP，不建议沿用 1–2 人、6–8 周口径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463040"/>
            <a:ext cx="1234440" cy="329184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2C68CD"/>
                </a:solidFill>
                <a:latin typeface="PingFang SC"/>
              </a:rPr>
              <a:t>P0｜2 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" y="1965960"/>
            <a:ext cx="1965960" cy="214884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2267712"/>
            <a:ext cx="16459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2C68CD"/>
                </a:solidFill>
                <a:latin typeface="PingFang SC"/>
              </a:rPr>
              <a:t>范围冻结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3" y="2862072"/>
            <a:ext cx="1645920" cy="8412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232F3F"/>
                </a:solidFill>
                <a:latin typeface="PingFang SC"/>
              </a:rPr>
              <a:t>系统清册
字段字典
责任链确认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04872" y="3017520"/>
            <a:ext cx="256032" cy="0"/>
          </a:xfrm>
          <a:prstGeom prst="line">
            <a:avLst/>
          </a:prstGeom>
          <a:ln w="1905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53512" y="1463040"/>
            <a:ext cx="1234440" cy="329184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1D97BC"/>
                </a:solidFill>
                <a:latin typeface="PingFang SC"/>
              </a:rPr>
              <a:t>P1｜4 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70632" y="1965960"/>
            <a:ext cx="1965960" cy="2148840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35224" y="2267712"/>
            <a:ext cx="16459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1D97BC"/>
                </a:solidFill>
                <a:latin typeface="PingFang SC"/>
              </a:rPr>
              <a:t>身份底座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5224" y="2862072"/>
            <a:ext cx="1645920" cy="8412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232F3F"/>
                </a:solidFill>
                <a:latin typeface="PingFang SC"/>
              </a:rPr>
              <a:t>统一主档
导入映射
匹配工作台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36592" y="3017520"/>
            <a:ext cx="256032" cy="0"/>
          </a:xfrm>
          <a:prstGeom prst="line">
            <a:avLst/>
          </a:prstGeom>
          <a:ln w="1905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285232" y="1463040"/>
            <a:ext cx="1234440" cy="329184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22946B"/>
                </a:solidFill>
                <a:latin typeface="PingFang SC"/>
              </a:rPr>
              <a:t>P2｜4 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1965960"/>
            <a:ext cx="1965960" cy="2148840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66944" y="2267712"/>
            <a:ext cx="16459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22946B"/>
                </a:solidFill>
                <a:latin typeface="PingFang SC"/>
              </a:rPr>
              <a:t>认证接入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6944" y="2862072"/>
            <a:ext cx="1645920" cy="8412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232F3F"/>
                </a:solidFill>
                <a:latin typeface="PingFang SC"/>
              </a:rPr>
              <a:t>Logto/OIDC
MFA/策略
2 系统试点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68312" y="3017520"/>
            <a:ext cx="256032" cy="0"/>
          </a:xfrm>
          <a:prstGeom prst="line">
            <a:avLst/>
          </a:prstGeom>
          <a:ln w="1905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616951" y="1463040"/>
            <a:ext cx="1234440" cy="329184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E28732"/>
                </a:solidFill>
                <a:latin typeface="PingFang SC"/>
              </a:rPr>
              <a:t>P3｜4 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34071" y="1965960"/>
            <a:ext cx="1965960" cy="2148840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98663" y="2267712"/>
            <a:ext cx="16459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E28732"/>
                </a:solidFill>
                <a:latin typeface="PingFang SC"/>
              </a:rPr>
              <a:t>治理闭环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98663" y="2862072"/>
            <a:ext cx="1645920" cy="8412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232F3F"/>
                </a:solidFill>
                <a:latin typeface="PingFang SC"/>
              </a:rPr>
              <a:t>工单待办
权限快照
离职核验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00032" y="3017520"/>
            <a:ext cx="256031" cy="0"/>
          </a:xfrm>
          <a:prstGeom prst="line">
            <a:avLst/>
          </a:prstGeom>
          <a:ln w="19050">
            <a:solidFill>
              <a:srgbClr val="6572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948672" y="1463040"/>
            <a:ext cx="1234440" cy="329184"/>
          </a:xfrm>
          <a:prstGeom prst="roundRect">
            <a:avLst/>
          </a:prstGeom>
          <a:solidFill>
            <a:srgbClr val="FCECEE"/>
          </a:solidFill>
          <a:ln w="12700">
            <a:solidFill>
              <a:srgbClr val="F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C94349"/>
                </a:solidFill>
                <a:latin typeface="PingFang SC"/>
              </a:rPr>
              <a:t>P4｜2 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65792" y="1965960"/>
            <a:ext cx="1965960" cy="2148840"/>
          </a:xfrm>
          <a:prstGeom prst="roundRect">
            <a:avLst/>
          </a:prstGeom>
          <a:solidFill>
            <a:srgbClr val="FCECEE"/>
          </a:solidFill>
          <a:ln w="12700">
            <a:solidFill>
              <a:srgbClr val="F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30384" y="2267712"/>
            <a:ext cx="16459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C94349"/>
                </a:solidFill>
                <a:latin typeface="PingFang SC"/>
              </a:rPr>
              <a:t>试运行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30384" y="2862072"/>
            <a:ext cx="1645920" cy="8412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232F3F"/>
                </a:solidFill>
                <a:latin typeface="PingFang SC"/>
              </a:rPr>
              <a:t>季度演练
安全测试
验收汇报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681728"/>
            <a:ext cx="10698480" cy="987552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F3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" y="4983480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4274A"/>
                </a:solidFill>
                <a:latin typeface="PingFang SC"/>
              </a:rPr>
              <a:t>建议核心团队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4937760"/>
            <a:ext cx="80467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32F3F"/>
                </a:solidFill>
                <a:latin typeface="PingFang SC"/>
              </a:rPr>
              <a:t>产品 1｜架构/后端 2–3｜前端 1–2｜测试 1｜数据运营 1｜安全与运维兼职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870448"/>
            <a:ext cx="10698480" cy="47548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5980176"/>
            <a:ext cx="10405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C68CD"/>
                </a:solidFill>
                <a:latin typeface="PingFang SC"/>
              </a:rPr>
              <a:t>里程碑出口：不是“页面完成”，而是试点系统可登录、账号可关联、离职可闭环、报告可生成。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47472"/>
            <a:ext cx="9966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4274A"/>
                </a:solidFill>
                <a:latin typeface="PingFang SC"/>
              </a:rPr>
              <a:t>当前问题与待确认｜风险及评审决策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332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57284"/>
                </a:solidFill>
                <a:latin typeface="PingFang SC"/>
              </a:rPr>
              <a:t>建议本次评审明确 6 个决策点，避免开发后期反复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0927080" cy="0"/>
          </a:xfrm>
          <a:prstGeom prst="line">
            <a:avLst/>
          </a:prstGeom>
          <a:ln w="12700">
            <a:solidFill>
              <a:srgbClr val="D7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93192"/>
            <a:ext cx="457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657284"/>
                </a:solidFill>
                <a:latin typeface="PingFang SC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841248"/>
          </a:xfrm>
          <a:prstGeom prst="roundRect">
            <a:avLst/>
          </a:prstGeom>
          <a:solidFill>
            <a:srgbClr val="FCECEE"/>
          </a:solidFill>
          <a:ln w="12700">
            <a:solidFill>
              <a:srgbClr val="F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17904"/>
            <a:ext cx="1143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C94349"/>
                </a:solidFill>
                <a:latin typeface="PingFang SC"/>
              </a:rPr>
              <a:t>身份误关联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4832" y="1499616"/>
            <a:ext cx="35204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32F3F"/>
                </a:solidFill>
                <a:latin typeface="PingFang SC"/>
              </a:rPr>
              <a:t>低置信度不自动合并；保留证据和可撤销映射。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120640" cy="841248"/>
          </a:xfrm>
          <a:prstGeom prst="roundRect">
            <a:avLst/>
          </a:prstGeom>
          <a:solidFill>
            <a:srgbClr val="FDF3E8"/>
          </a:solidFill>
          <a:ln w="12700">
            <a:solidFill>
              <a:srgbClr val="FD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517904"/>
            <a:ext cx="1143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E28732"/>
                </a:solidFill>
                <a:latin typeface="PingFang SC"/>
              </a:rPr>
              <a:t>接口能力不足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1" y="1499616"/>
            <a:ext cx="35204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32F3F"/>
                </a:solidFill>
                <a:latin typeface="PingFang SC"/>
              </a:rPr>
              <a:t>统一状态机支持自动与人工执行，不把“无接口”当阻塞。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468880"/>
            <a:ext cx="5120640" cy="841248"/>
          </a:xfrm>
          <a:prstGeom prst="roundRect">
            <a:avLst/>
          </a:prstGeom>
          <a:solidFill>
            <a:srgbClr val="E9F1FD"/>
          </a:solidFill>
          <a:ln w="12700">
            <a:solidFill>
              <a:srgbClr val="E9F1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615184"/>
            <a:ext cx="1143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2C68CD"/>
                </a:solidFill>
                <a:latin typeface="PingFang SC"/>
              </a:rPr>
              <a:t>审批链易变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4832" y="2596896"/>
            <a:ext cx="35204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32F3F"/>
                </a:solidFill>
                <a:latin typeface="PingFang SC"/>
              </a:rPr>
              <a:t>按权限类型配置路由，负责人数据来自主数据并允许授权维护。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468880"/>
            <a:ext cx="5120640" cy="841248"/>
          </a:xfrm>
          <a:prstGeom prst="roundRect">
            <a:avLst/>
          </a:prstGeom>
          <a:solidFill>
            <a:srgbClr val="E8F7F1"/>
          </a:solidFill>
          <a:ln w="12700">
            <a:solidFill>
              <a:srgbClr val="E8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615184"/>
            <a:ext cx="1143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22946B"/>
                </a:solidFill>
                <a:latin typeface="PingFang SC"/>
              </a:rPr>
              <a:t>权限边界混淆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71231" y="2596896"/>
            <a:ext cx="35204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32F3F"/>
                </a:solidFill>
                <a:latin typeface="PingFang SC"/>
              </a:rPr>
              <a:t>一期只读聚合；业务系统继续负责实时鉴权。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703320"/>
            <a:ext cx="2011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14274A"/>
                </a:solidFill>
                <a:latin typeface="PingFang SC"/>
              </a:rPr>
              <a:t>请评审确认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87952"/>
            <a:ext cx="493776" cy="329184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F3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14274A"/>
                </a:solidFill>
                <a:latin typeface="PingFang SC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4224528"/>
            <a:ext cx="4572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232F3F"/>
                </a:solidFill>
                <a:latin typeface="PingFang SC"/>
              </a:rPr>
              <a:t>统一身份权威源：OA / 飞书 / 北森各自负责哪些字段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87952"/>
            <a:ext cx="493776" cy="329184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F3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14274A"/>
                </a:solidFill>
                <a:latin typeface="PingFang SC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4224528"/>
            <a:ext cx="4572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232F3F"/>
                </a:solidFill>
                <a:latin typeface="PingFang SC"/>
              </a:rPr>
              <a:t>一期试点系统清单与系统负责人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754880"/>
            <a:ext cx="493776" cy="329184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F3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14274A"/>
                </a:solidFill>
                <a:latin typeface="PingFang SC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4791456"/>
            <a:ext cx="4572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32F3F"/>
                </a:solidFill>
                <a:latin typeface="PingFang SC"/>
              </a:rPr>
              <a:t>普通账号、敏感权限、外部人员的审批链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754880"/>
            <a:ext cx="493776" cy="329184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F3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14274A"/>
                </a:solidFill>
                <a:latin typeface="PingFang S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9712" y="4791456"/>
            <a:ext cx="4572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32F3F"/>
                </a:solidFill>
                <a:latin typeface="PingFang SC"/>
              </a:rPr>
              <a:t>系统级认证有效期与 MFA 强度基线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321808"/>
            <a:ext cx="493776" cy="329184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F3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14274A"/>
                </a:solidFill>
                <a:latin typeface="PingFang SC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5358384"/>
            <a:ext cx="4572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32F3F"/>
                </a:solidFill>
                <a:latin typeface="PingFang SC"/>
              </a:rPr>
              <a:t>线下执行回执标准与逾期升级 SLA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5321808"/>
            <a:ext cx="493776" cy="329184"/>
          </a:xfrm>
          <a:prstGeom prst="roundRect">
            <a:avLst/>
          </a:prstGeom>
          <a:solidFill>
            <a:srgbClr val="F3F7FC"/>
          </a:solidFill>
          <a:ln w="12700">
            <a:solidFill>
              <a:srgbClr val="F3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100" b="1">
                <a:solidFill>
                  <a:srgbClr val="14274A"/>
                </a:solidFill>
                <a:latin typeface="PingFang SC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5358384"/>
            <a:ext cx="4572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32F3F"/>
                </a:solidFill>
                <a:latin typeface="PingFang SC"/>
              </a:rPr>
              <a:t>一期 16 周与核心团队资源是否确认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556248"/>
            <a:ext cx="64008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657284"/>
                </a:solidFill>
                <a:latin typeface="PingFang SC"/>
              </a:rPr>
              <a:t>lecoo 用户中心｜开发方案 V1.0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5624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657284"/>
                </a:solidFill>
                <a:latin typeface="PingFang SC"/>
              </a:rPr>
              <a:t>内部评审材料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lecoo 用户中心开发方案与实施路线图</dc:title>
  <dc:subject>统一登录、身份治理、账号安全管理与审计</dc:subject>
  <dc:creator>lecoo</dc:creator>
  <cp:keywords>用户中心, SSO, 身份治理, 账号审计, MFA, OIDC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